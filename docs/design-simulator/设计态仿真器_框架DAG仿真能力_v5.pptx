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v5：框图内只放技术名词，每一步带 1–2 个技术标签，难点直接用红字标出（无边框）；过渡箭头用浅灰；不放句子说明。</a:t>
            </a:r>
          </a:p>
          <a:p>
            <a:r>
              <a:t>① 多源图捕获与 DAG 归一：结构配置、源码 AST、框架 IR（FX / Jaxpr / MindIR）、运行 Trace（Kineto / msprof）并列捕获；再依次做算子实例化（算子分解映射）、形状精度绑定（符号形状推导）、控制流展开（子图内联）、多框架归一（统一算子 IR）。难点是动态形状与图断点。</a:t>
            </a:r>
          </a:p>
          <a:p>
            <a:r>
              <a:t>② 规模链：设备网格映射（Device Mesh、拓扑亲和放置）→ rank 级展开（SPMD 复制、同构折叠）→ 并行策略切分（切分传播、集合通信插入）→ 批次并发扩展（微批 1F1B、连续批处理）；难点是万卡规模下的图膨胀与跨 rank 切分一致性。序列链：序列并行切分（SP/CP、Ring Attn）→ Prefix 复用（KV 分页、前缀树匹配）→ 量化算子替换（W8A8/FP8、Q/DQ 插入）→ 融合与重计算（融合 pass、激活重计算）；难点是变长序列与 KV 显存。两链汇合为 rank 级执行图，再派生集合通信、点对点流量、内存容量（HBM 生命周期）、数据读取四张域图。</a:t>
            </a:r>
          </a:p>
          <a:p>
            <a:r>
              <a:t>③ 约束调度与 Trace 重放：依赖展开（跨 rank 依赖）→ 算子调度（多流、通算重叠）→ 执行序编排（约束拓扑排序）→ 多场景重放（离散事件重放）；难点是通算重叠与跨 rank 同步。</a:t>
            </a:r>
          </a:p>
          <a:p>
            <a:r>
              <a:t>输入直接进入 DAG 引擎，下面是输出层，本页不接仿真核。配色遵循 AICO-PPT：品牌红 #b5333b 只标 DAG 引擎，结构用灰蓝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训练框架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4842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推理框架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RL 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7166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模型与源码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342132" y="2272284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368296"/>
            <a:ext cx="5129783" cy="3749039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241401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多源图捕获与 DAG 归一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2474" y="2427732"/>
            <a:ext cx="1311981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难点：动态形状 · 图断点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模型结构解析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Config · Module 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6846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源码静态抽取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源码 AST 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1004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框架 IR 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FX · Jaxpr · MindIR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5162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运行 Trace 回填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Kineto · msprof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342132" y="2969971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932688" y="3044951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算子实例化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算子分解映射</a:t>
            </a:r>
          </a:p>
        </p:txBody>
      </p:sp>
      <p:sp>
        <p:nvSpPr>
          <p:cNvPr id="36" name="Chevron 35"/>
          <p:cNvSpPr/>
          <p:nvPr/>
        </p:nvSpPr>
        <p:spPr>
          <a:xfrm>
            <a:off x="2173986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形状精度绑定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符号形状推导</a:t>
            </a:r>
          </a:p>
        </p:txBody>
      </p:sp>
      <p:sp>
        <p:nvSpPr>
          <p:cNvPr id="37" name="Chevron 36"/>
          <p:cNvSpPr/>
          <p:nvPr/>
        </p:nvSpPr>
        <p:spPr>
          <a:xfrm>
            <a:off x="3415284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控制流展开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子图内联</a:t>
            </a:r>
          </a:p>
        </p:txBody>
      </p:sp>
      <p:sp>
        <p:nvSpPr>
          <p:cNvPr id="38" name="Chevron 37"/>
          <p:cNvSpPr/>
          <p:nvPr/>
        </p:nvSpPr>
        <p:spPr>
          <a:xfrm>
            <a:off x="4656581" y="3044951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多框架归一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统一算子 IR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3342132" y="3421684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502151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规模链 / 序列链图变换与域图派生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规模链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85264" y="3726179"/>
            <a:ext cx="1429435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难点：万卡图膨胀 · 切分一致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3941063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设备网格映射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60804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Device Mesh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3754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拓扑亲和放置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325880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840" y="4208525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rank 级展开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60804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SPMD 复制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03754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同构折叠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325880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5840" y="4475988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并行策略切分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60804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切分传播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3754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集合通信插入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1325880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05840" y="4743450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批次并发扩展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60804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微批 1F1B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3754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连续批处理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79292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2444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序列链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1484" y="3726179"/>
            <a:ext cx="1299819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难点：变长序列 · KV 显存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52444" y="3941063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序列并行切分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07408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SP / CP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50358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Ring Attn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3872484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552444" y="4208525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Prefix 复用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07408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KV 分页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50358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前缀树匹配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3872484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552444" y="4475988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量化算子替换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07408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W8A8 / FP8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50358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Q/DQ 插入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3872484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552444" y="4743450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融合与重计算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07408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融合 pass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50358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激活重计算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2068829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own Arrow 77"/>
          <p:cNvSpPr/>
          <p:nvPr/>
        </p:nvSpPr>
        <p:spPr>
          <a:xfrm>
            <a:off x="4615434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32688" y="5084063"/>
            <a:ext cx="786384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rank 级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执行图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1737360" y="5188305"/>
            <a:ext cx="146304" cy="1389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901952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AllReduce · A2A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23794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点对点流量图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PP Send/Recv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945635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内存容量图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HBM 生命周期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67478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数据读取图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样本 · ckpt IO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3342132" y="5442508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" y="552297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约束调度与 Trace 重放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84512" y="5536691"/>
            <a:ext cx="1649943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难点：通算重叠 · 跨 rank 同步</a:t>
            </a:r>
          </a:p>
        </p:txBody>
      </p:sp>
      <p:sp>
        <p:nvSpPr>
          <p:cNvPr id="88" name="Pentagon 87"/>
          <p:cNvSpPr/>
          <p:nvPr/>
        </p:nvSpPr>
        <p:spPr>
          <a:xfrm>
            <a:off x="932688" y="5705855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依赖展开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跨 rank 依赖</a:t>
            </a:r>
          </a:p>
        </p:txBody>
      </p:sp>
      <p:sp>
        <p:nvSpPr>
          <p:cNvPr id="89" name="Chevron 88"/>
          <p:cNvSpPr/>
          <p:nvPr/>
        </p:nvSpPr>
        <p:spPr>
          <a:xfrm>
            <a:off x="2173986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算子调度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多流 · 通算重叠</a:t>
            </a:r>
          </a:p>
        </p:txBody>
      </p:sp>
      <p:sp>
        <p:nvSpPr>
          <p:cNvPr id="90" name="Chevron 89"/>
          <p:cNvSpPr/>
          <p:nvPr/>
        </p:nvSpPr>
        <p:spPr>
          <a:xfrm>
            <a:off x="3415284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执行序编排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约束拓扑排序</a:t>
            </a:r>
          </a:p>
        </p:txBody>
      </p:sp>
      <p:sp>
        <p:nvSpPr>
          <p:cNvPr id="91" name="Chevron 90"/>
          <p:cNvSpPr/>
          <p:nvPr/>
        </p:nvSpPr>
        <p:spPr>
          <a:xfrm>
            <a:off x="4656581" y="5705855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多场景重放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离散事件重放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3342132" y="6121907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场景执行图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64842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461004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57166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吞吐瓶颈对照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59" y="221284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多源图捕获，再归一为可仿真 DAG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59" y="246888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1）多源捕获：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结构配置、源码 AST、框架 IR（FX / Jaxpr / MindIR）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与 Profiler Trace 四路同时进入。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59" y="292303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2）归一收束：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先分解、实例化算子，再推导符号形状与精度，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内联控制流子图，归一为统一算子 IR。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59" y="375208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按场景做图变换，并派生域图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59" y="400812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1）双链变换：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规模链做 rank 级展开、切分传播与集合通信插入；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序列链做 SP/CP 切分、KV 复用、量化替换与重计算。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59" y="446227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2）执行图分叉：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双链汇合为 rank 级执行图，再派生集合通信、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点对点流量、HBM 容量与数据读取四张域图。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9359" y="529132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按约束调度，再做 Trace 重放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09359" y="554736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1）调度顺序：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先补齐跨 rank 依赖，再做多流调度与通算重叠，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最后按资源约束编排执行序。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59" y="600151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2）重放产出：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离散事件重放多场景，输出执行图、流量图、访存图，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以及吞吐、排队与瓶颈对照。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