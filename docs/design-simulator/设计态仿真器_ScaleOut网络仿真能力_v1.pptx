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v1：与框架侧 DAG v6 同款版式；左图输入→核心（拓扑/协议/模组三层）→输出，无灰色已具备层。</a:t>
            </a:r>
          </a:p>
          <a:p>
            <a:r>
              <a:t>输入：集群拓扑意图、并行与通信模式、协议与拥塞策略、网卡与模组参数（四类同时抽出）。</a:t>
            </a:r>
          </a:p>
          <a:p>
            <a:r>
              <a:t>① 拓扑与路由仿真：CLOS/Dragonfly 等拓扑、路由与负载均衡、故障与重构路径、跨 ScaleOut 域划分。</a:t>
            </a:r>
          </a:p>
          <a:p>
            <a:r>
              <a:t>② 协议与流量仿真：RoCE / UBoE 行为模型、集合通信模式、拥塞与重传路径（协议层可切换）。</a:t>
            </a:r>
          </a:p>
          <a:p>
            <a:r>
              <a:t>③ 网卡与模组仿真：182X 网卡模型、DMA/队列行为、多队列与 offload、模组级可替换接口。</a:t>
            </a:r>
          </a:p>
          <a:p>
            <a:r>
              <a:t>输出：带宽延迟对照、集合通信效率、瓶颈定位图、RoCE/UBoE/网卡方案对比。</a:t>
            </a:r>
          </a:p>
          <a:p>
            <a:r>
              <a:t>配色遵循 AICO-PPT：品牌红 #b5333b 只标仿真技术核心，结构用灰蓝 #566472。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B53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56032" y="109728"/>
            <a:ext cx="11521440" cy="219456"/>
          </a:xfrm>
          <a:prstGeom prst="rect">
            <a:avLst/>
          </a:prstGeom>
          <a:noFill/>
        </p:spPr>
        <p:txBody>
          <a:bodyPr wrap="square" lIns="45720" rIns="45720" tIns="27432" bIns="27432" anchor="t"/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B5333B"/>
                </a:solidFill>
                <a:latin typeface="微软雅黑"/>
                <a:ea typeface="微软雅黑"/>
                <a:cs typeface="微软雅黑"/>
              </a:rPr>
              <a:t>设计态 AI 集群仿真器  ·  ScaleOut 网络仿真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6032" y="329184"/>
            <a:ext cx="11612880" cy="347472"/>
          </a:xfrm>
          <a:prstGeom prst="rect">
            <a:avLst/>
          </a:prstGeom>
          <a:noFill/>
        </p:spPr>
        <p:txBody>
          <a:bodyPr wrap="square" lIns="45720" rIns="45720" tIns="27432" bIns="27432" anchor="t"/>
          <a:lstStyle/>
          <a:p>
            <a:pPr algn="l">
              <a:spcAft>
                <a:spcPts val="200"/>
              </a:spcAft>
            </a:pPr>
            <a:r>
              <a:rPr sz="2000" b="1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以拓扑、协议、模组三层仿真支撑十万～五十万卡 ScaleOut 网络设计决策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01168" y="713232"/>
            <a:ext cx="11777472" cy="98755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1430">
            <a:solidFill>
              <a:srgbClr val="E7E7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9184" y="804672"/>
            <a:ext cx="64008" cy="146304"/>
          </a:xfrm>
          <a:prstGeom prst="rect">
            <a:avLst/>
          </a:prstGeom>
          <a:solidFill>
            <a:srgbClr val="B53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8" y="713232"/>
            <a:ext cx="1115568" cy="329184"/>
          </a:xfrm>
          <a:prstGeom prst="rect">
            <a:avLst/>
          </a:prstGeom>
          <a:noFill/>
        </p:spPr>
        <p:txBody>
          <a:bodyPr wrap="square" lIns="45720" rIns="45720" tIns="27432" bIns="27432" anchor="ctr"/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B5333B"/>
                </a:solidFill>
                <a:latin typeface="微软雅黑"/>
                <a:ea typeface="微软雅黑"/>
                <a:cs typeface="微软雅黑"/>
              </a:rPr>
              <a:t>面向场景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27632" y="713232"/>
            <a:ext cx="10149840" cy="329184"/>
          </a:xfrm>
          <a:prstGeom prst="rect">
            <a:avLst/>
          </a:prstGeom>
          <a:noFill/>
        </p:spPr>
        <p:txBody>
          <a:bodyPr wrap="square" lIns="45720" rIns="45720" tIns="27432" bIns="27432" anchor="ctr"/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面向 10T～50T+ 大模型、约 50 万卡量级集群，在设计态仿真 ScaleOut 网络方案与网卡行为，对照吞吐、延迟与瓶颈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9184" y="1133856"/>
            <a:ext cx="64008" cy="146304"/>
          </a:xfrm>
          <a:prstGeom prst="rect">
            <a:avLst/>
          </a:prstGeom>
          <a:solidFill>
            <a:srgbClr val="B53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" y="1042416"/>
            <a:ext cx="1115568" cy="329184"/>
          </a:xfrm>
          <a:prstGeom prst="rect">
            <a:avLst/>
          </a:prstGeom>
          <a:noFill/>
        </p:spPr>
        <p:txBody>
          <a:bodyPr wrap="square" lIns="45720" rIns="45720" tIns="27432" bIns="27432" anchor="ctr"/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B5333B"/>
                </a:solidFill>
                <a:latin typeface="微软雅黑"/>
                <a:ea typeface="微软雅黑"/>
                <a:cs typeface="微软雅黑"/>
              </a:rPr>
              <a:t>竞争力目标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27632" y="1042416"/>
            <a:ext cx="10149840" cy="329184"/>
          </a:xfrm>
          <a:prstGeom prst="rect">
            <a:avLst/>
          </a:prstGeom>
          <a:noFill/>
        </p:spPr>
        <p:txBody>
          <a:bodyPr wrap="square" lIns="45720" rIns="45720" tIns="27432" bIns="27432" anchor="ctr"/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可替换对比 RoCE 与 UBoE 等协议路径，并纳入 182X 网卡级行为，给出可量化的方案取舍依据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9184" y="1463040"/>
            <a:ext cx="64008" cy="146304"/>
          </a:xfrm>
          <a:prstGeom prst="rect">
            <a:avLst/>
          </a:prstGeom>
          <a:solidFill>
            <a:srgbClr val="B53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5488" y="1371600"/>
            <a:ext cx="1115568" cy="329184"/>
          </a:xfrm>
          <a:prstGeom prst="rect">
            <a:avLst/>
          </a:prstGeom>
          <a:noFill/>
        </p:spPr>
        <p:txBody>
          <a:bodyPr wrap="square" lIns="45720" rIns="45720" tIns="27432" bIns="27432" anchor="ctr"/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B5333B"/>
                </a:solidFill>
                <a:latin typeface="微软雅黑"/>
                <a:ea typeface="微软雅黑"/>
                <a:cs typeface="微软雅黑"/>
              </a:rPr>
              <a:t>技术挑战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27632" y="1371600"/>
            <a:ext cx="10149840" cy="329184"/>
          </a:xfrm>
          <a:prstGeom prst="rect">
            <a:avLst/>
          </a:prstGeom>
          <a:noFill/>
        </p:spPr>
        <p:txBody>
          <a:bodyPr wrap="square" lIns="45720" rIns="45720" tIns="27432" bIns="27432" anchor="ctr"/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超大规模拓扑与路由保真、集合通信与流量跨 ScaleOut 可复现、网卡/模组级行为可插拔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1168" y="1773936"/>
            <a:ext cx="1463040" cy="182880"/>
          </a:xfrm>
          <a:prstGeom prst="rect">
            <a:avLst/>
          </a:prstGeom>
          <a:noFill/>
        </p:spPr>
        <p:txBody>
          <a:bodyPr wrap="square" lIns="45720" rIns="45720" tIns="27432" bIns="27432" anchor="ctr"/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566472"/>
                </a:solidFill>
                <a:latin typeface="微软雅黑"/>
                <a:ea typeface="微软雅黑"/>
                <a:cs typeface="微软雅黑"/>
              </a:rPr>
              <a:t>能力结构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09928" y="1773936"/>
            <a:ext cx="4288536" cy="182880"/>
          </a:xfrm>
          <a:prstGeom prst="rect">
            <a:avLst/>
          </a:prstGeom>
          <a:noFill/>
        </p:spPr>
        <p:txBody>
          <a:bodyPr wrap="square" lIns="45720" rIns="45720" tIns="27432" bIns="27432" anchor="ctr"/>
          <a:lstStyle/>
          <a:p>
            <a:pPr algn="r">
              <a:spcAft>
                <a:spcPts val="200"/>
              </a:spcAft>
            </a:pPr>
            <a:r>
              <a:rPr sz="850" b="0">
                <a:solidFill>
                  <a:srgbClr val="585860"/>
                </a:solidFill>
                <a:latin typeface="微软雅黑"/>
                <a:ea typeface="微软雅黑"/>
                <a:cs typeface="微软雅黑"/>
              </a:rPr>
              <a:t>四类输入同时抽出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01168" y="1975104"/>
            <a:ext cx="621792" cy="329184"/>
          </a:xfrm>
          <a:prstGeom prst="rect">
            <a:avLst/>
          </a:prstGeom>
          <a:solidFill>
            <a:srgbClr val="5664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01168" y="1975104"/>
            <a:ext cx="621792" cy="329184"/>
          </a:xfrm>
          <a:prstGeom prst="rect">
            <a:avLst/>
          </a:prstGeom>
          <a:noFill/>
        </p:spPr>
        <p:txBody>
          <a:bodyPr wrap="square" lIns="45720" rIns="45720" tIns="27432" bIns="27432" anchor="ctr"/>
          <a:lstStyle/>
          <a:p>
            <a:pPr algn="ctr">
              <a:spcAft>
                <a:spcPts val="200"/>
              </a:spcAft>
            </a:pPr>
            <a:r>
              <a:rPr sz="1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输入层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68680" y="1975104"/>
            <a:ext cx="1241298" cy="32918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1430">
            <a:solidFill>
              <a:srgbClr val="E7E7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>
              <a:spcAft>
                <a:spcPts val="200"/>
              </a:spcAft>
            </a:pPr>
            <a:r>
              <a:rPr sz="1000" b="0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集群拓扑意图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164842" y="1975104"/>
            <a:ext cx="1241298" cy="32918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1430">
            <a:solidFill>
              <a:srgbClr val="E7E7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>
              <a:spcAft>
                <a:spcPts val="200"/>
              </a:spcAft>
            </a:pPr>
            <a:r>
              <a:rPr sz="1000" b="0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并行与通信模式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461004" y="1975104"/>
            <a:ext cx="1241298" cy="32918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1430">
            <a:solidFill>
              <a:srgbClr val="E7E7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>
              <a:spcAft>
                <a:spcPts val="200"/>
              </a:spcAft>
            </a:pPr>
            <a:r>
              <a:rPr sz="1000" b="0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协议与拥塞策略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757166" y="1975104"/>
            <a:ext cx="1241298" cy="32918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1430">
            <a:solidFill>
              <a:srgbClr val="E7E7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>
              <a:spcAft>
                <a:spcPts val="200"/>
              </a:spcAft>
            </a:pPr>
            <a:r>
              <a:rPr sz="1000" b="0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网卡与模组参数</a:t>
            </a:r>
          </a:p>
        </p:txBody>
      </p:sp>
      <p:sp>
        <p:nvSpPr>
          <p:cNvPr id="25" name="Down Arrow 24"/>
          <p:cNvSpPr/>
          <p:nvPr/>
        </p:nvSpPr>
        <p:spPr>
          <a:xfrm>
            <a:off x="3342132" y="2308860"/>
            <a:ext cx="182880" cy="9144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C8C8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01168" y="2404872"/>
            <a:ext cx="621792" cy="3675887"/>
          </a:xfrm>
          <a:prstGeom prst="rect">
            <a:avLst/>
          </a:prstGeom>
          <a:solidFill>
            <a:srgbClr val="B53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01168" y="2404872"/>
            <a:ext cx="621792" cy="3675887"/>
          </a:xfrm>
          <a:prstGeom prst="rect">
            <a:avLst/>
          </a:prstGeom>
          <a:noFill/>
        </p:spPr>
        <p:txBody>
          <a:bodyPr wrap="square" lIns="45720" rIns="45720" tIns="27432" bIns="27432" anchor="ctr"/>
          <a:lstStyle/>
          <a:p>
            <a:pPr algn="ctr">
              <a:spcAft>
                <a:spcPts val="200"/>
              </a:spcAft>
            </a:pPr>
            <a:r>
              <a:rPr sz="1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仿真</a:t>
            </a:r>
          </a:p>
          <a:p>
            <a:pPr algn="ctr">
              <a:spcAft>
                <a:spcPts val="200"/>
              </a:spcAft>
            </a:pPr>
            <a:r>
              <a:rPr sz="1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技术</a:t>
            </a:r>
          </a:p>
          <a:p>
            <a:pPr algn="ctr">
              <a:spcAft>
                <a:spcPts val="200"/>
              </a:spcAft>
            </a:pPr>
            <a:r>
              <a:rPr sz="8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本页核心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68680" y="2404872"/>
            <a:ext cx="5129783" cy="3675887"/>
          </a:xfrm>
          <a:prstGeom prst="roundRect">
            <a:avLst>
              <a:gd name="adj" fmla="val 3000"/>
            </a:avLst>
          </a:prstGeom>
          <a:solidFill>
            <a:srgbClr val="FDF0F1"/>
          </a:solidFill>
          <a:ln w="12700">
            <a:solidFill>
              <a:srgbClr val="E0A3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41832" y="2459736"/>
            <a:ext cx="4983479" cy="201168"/>
          </a:xfrm>
          <a:prstGeom prst="rect">
            <a:avLst/>
          </a:prstGeom>
          <a:noFill/>
        </p:spPr>
        <p:txBody>
          <a:bodyPr wrap="square" lIns="45720" rIns="45720" tIns="27432" bIns="27432" anchor="ctr"/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585860"/>
                </a:solidFill>
                <a:latin typeface="微软雅黑"/>
                <a:ea typeface="微软雅黑"/>
                <a:cs typeface="微软雅黑"/>
              </a:rPr>
              <a:t>自上而下三层，协议层必须能切 RoCE / UBoE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1832" y="2679192"/>
            <a:ext cx="4983479" cy="201168"/>
          </a:xfrm>
          <a:prstGeom prst="rect">
            <a:avLst/>
          </a:prstGeom>
          <a:noFill/>
        </p:spPr>
        <p:txBody>
          <a:bodyPr wrap="square" lIns="45720" rIns="45720" tIns="27432" bIns="27432" anchor="ctr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B5333B"/>
                </a:solidFill>
                <a:latin typeface="微软雅黑"/>
                <a:ea typeface="微软雅黑"/>
                <a:cs typeface="微软雅黑"/>
              </a:rPr>
              <a:t>① 拓扑与路由仿真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41832" y="2898648"/>
            <a:ext cx="1204722" cy="47548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1430">
            <a:solidFill>
              <a:srgbClr val="E7E7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CLOS/Dragonfly</a:t>
            </a:r>
          </a:p>
          <a:p>
            <a:pPr algn="ctr">
              <a:spcAft>
                <a:spcPts val="0"/>
              </a:spcAft>
            </a:pPr>
            <a:r>
              <a:rPr sz="900" b="0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等拓扑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201418" y="2898648"/>
            <a:ext cx="1204722" cy="47548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1430">
            <a:solidFill>
              <a:srgbClr val="E7E7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>
              <a:spcAft>
                <a:spcPts val="200"/>
              </a:spcAft>
            </a:pPr>
            <a:r>
              <a:rPr sz="950" b="0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路由与负载均衡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461004" y="2898648"/>
            <a:ext cx="1204722" cy="47548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1430">
            <a:solidFill>
              <a:srgbClr val="E7E7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>
              <a:spcAft>
                <a:spcPts val="200"/>
              </a:spcAft>
            </a:pPr>
            <a:r>
              <a:rPr sz="950" b="0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故障与重构路径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720590" y="2898648"/>
            <a:ext cx="1204722" cy="47548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1430">
            <a:solidFill>
              <a:srgbClr val="E7E7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跨 ScaleOut</a:t>
            </a:r>
          </a:p>
          <a:p>
            <a:pPr algn="ctr">
              <a:spcAft>
                <a:spcPts val="0"/>
              </a:spcAft>
            </a:pPr>
            <a:r>
              <a:rPr sz="900" b="0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域划分</a:t>
            </a:r>
          </a:p>
        </p:txBody>
      </p:sp>
      <p:sp>
        <p:nvSpPr>
          <p:cNvPr id="35" name="Down Arrow 34"/>
          <p:cNvSpPr/>
          <p:nvPr/>
        </p:nvSpPr>
        <p:spPr>
          <a:xfrm>
            <a:off x="3342132" y="3756660"/>
            <a:ext cx="182880" cy="54864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C8C8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41832" y="3816096"/>
            <a:ext cx="4983479" cy="201168"/>
          </a:xfrm>
          <a:prstGeom prst="rect">
            <a:avLst/>
          </a:prstGeom>
          <a:noFill/>
        </p:spPr>
        <p:txBody>
          <a:bodyPr wrap="square" lIns="45720" rIns="45720" tIns="27432" bIns="27432" anchor="ctr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B5333B"/>
                </a:solidFill>
                <a:latin typeface="微软雅黑"/>
                <a:ea typeface="微软雅黑"/>
                <a:cs typeface="微软雅黑"/>
              </a:rPr>
              <a:t>② 协议与流量仿真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41832" y="4035552"/>
            <a:ext cx="1204722" cy="47548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1430">
            <a:solidFill>
              <a:srgbClr val="E7E7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>
              <a:spcAft>
                <a:spcPts val="200"/>
              </a:spcAft>
            </a:pPr>
            <a:r>
              <a:rPr sz="950" b="0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RoCE 行为模型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2201418" y="4035552"/>
            <a:ext cx="1204722" cy="47548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1430">
            <a:solidFill>
              <a:srgbClr val="E7E7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>
              <a:spcAft>
                <a:spcPts val="200"/>
              </a:spcAft>
            </a:pPr>
            <a:r>
              <a:rPr sz="950" b="0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UBoE 行为模型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3461004" y="4035552"/>
            <a:ext cx="1204722" cy="47548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1430">
            <a:solidFill>
              <a:srgbClr val="E7E7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>
              <a:spcAft>
                <a:spcPts val="200"/>
              </a:spcAft>
            </a:pPr>
            <a:r>
              <a:rPr sz="950" b="0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集合通信模式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720590" y="4035552"/>
            <a:ext cx="1204722" cy="47548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1430">
            <a:solidFill>
              <a:srgbClr val="E7E7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>
              <a:spcAft>
                <a:spcPts val="200"/>
              </a:spcAft>
            </a:pPr>
            <a:r>
              <a:rPr sz="950" b="0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拥塞与重传路径</a:t>
            </a:r>
          </a:p>
        </p:txBody>
      </p:sp>
      <p:sp>
        <p:nvSpPr>
          <p:cNvPr id="41" name="Down Arrow 40"/>
          <p:cNvSpPr/>
          <p:nvPr/>
        </p:nvSpPr>
        <p:spPr>
          <a:xfrm>
            <a:off x="3342132" y="4893564"/>
            <a:ext cx="182880" cy="54864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C8C8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41832" y="4952999"/>
            <a:ext cx="4983479" cy="201168"/>
          </a:xfrm>
          <a:prstGeom prst="rect">
            <a:avLst/>
          </a:prstGeom>
          <a:noFill/>
        </p:spPr>
        <p:txBody>
          <a:bodyPr wrap="square" lIns="45720" rIns="45720" tIns="27432" bIns="27432" anchor="ctr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B5333B"/>
                </a:solidFill>
                <a:latin typeface="微软雅黑"/>
                <a:ea typeface="微软雅黑"/>
                <a:cs typeface="微软雅黑"/>
              </a:rPr>
              <a:t>③ 网卡与模组仿真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41832" y="5172455"/>
            <a:ext cx="1204722" cy="47548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1430">
            <a:solidFill>
              <a:srgbClr val="E7E7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>
              <a:spcAft>
                <a:spcPts val="200"/>
              </a:spcAft>
            </a:pPr>
            <a:r>
              <a:rPr sz="950" b="0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182X 网卡模型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2201418" y="5172455"/>
            <a:ext cx="1204722" cy="47548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1430">
            <a:solidFill>
              <a:srgbClr val="E7E7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>
              <a:spcAft>
                <a:spcPts val="200"/>
              </a:spcAft>
            </a:pPr>
            <a:r>
              <a:rPr sz="950" b="0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DMA/队列行为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3461004" y="5172455"/>
            <a:ext cx="1204722" cy="47548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1430">
            <a:solidFill>
              <a:srgbClr val="E7E7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>
              <a:spcAft>
                <a:spcPts val="200"/>
              </a:spcAft>
            </a:pPr>
            <a:r>
              <a:rPr sz="950" b="0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多队列与 offload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720590" y="5172455"/>
            <a:ext cx="1204722" cy="47548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1430">
            <a:solidFill>
              <a:srgbClr val="E7E7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>
              <a:spcAft>
                <a:spcPts val="200"/>
              </a:spcAft>
            </a:pPr>
            <a:r>
              <a:rPr sz="950" b="0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模组级可替换接口</a:t>
            </a:r>
          </a:p>
        </p:txBody>
      </p:sp>
      <p:sp>
        <p:nvSpPr>
          <p:cNvPr id="47" name="Down Arrow 46"/>
          <p:cNvSpPr/>
          <p:nvPr/>
        </p:nvSpPr>
        <p:spPr>
          <a:xfrm>
            <a:off x="3342132" y="6085331"/>
            <a:ext cx="182880" cy="9144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C8C8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68680" y="6089903"/>
            <a:ext cx="3693444" cy="82296"/>
          </a:xfrm>
          <a:prstGeom prst="rect">
            <a:avLst/>
          </a:prstGeom>
          <a:noFill/>
        </p:spPr>
        <p:txBody>
          <a:bodyPr wrap="square" lIns="45720" rIns="45720" tIns="27432" bIns="27432" anchor="ctr"/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85860"/>
                </a:solidFill>
                <a:latin typeface="微软雅黑"/>
                <a:ea typeface="微软雅黑"/>
                <a:cs typeface="微软雅黑"/>
              </a:rPr>
              <a:t>从执行结果分出四类对照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01168" y="6181344"/>
            <a:ext cx="621792" cy="347472"/>
          </a:xfrm>
          <a:prstGeom prst="rect">
            <a:avLst/>
          </a:prstGeom>
          <a:solidFill>
            <a:srgbClr val="5664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01168" y="6181344"/>
            <a:ext cx="621792" cy="347472"/>
          </a:xfrm>
          <a:prstGeom prst="rect">
            <a:avLst/>
          </a:prstGeom>
          <a:noFill/>
        </p:spPr>
        <p:txBody>
          <a:bodyPr wrap="square" lIns="45720" rIns="45720" tIns="27432" bIns="27432" anchor="ctr"/>
          <a:lstStyle/>
          <a:p>
            <a:pPr algn="ctr">
              <a:spcAft>
                <a:spcPts val="200"/>
              </a:spcAft>
            </a:pPr>
            <a:r>
              <a:rPr sz="1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输出层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868680" y="6181344"/>
            <a:ext cx="1241298" cy="34747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1430">
            <a:solidFill>
              <a:srgbClr val="E7E7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>
              <a:spcAft>
                <a:spcPts val="200"/>
              </a:spcAft>
            </a:pPr>
            <a:r>
              <a:rPr sz="950" b="0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带宽延迟对照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2164842" y="6181344"/>
            <a:ext cx="1241298" cy="34747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1430">
            <a:solidFill>
              <a:srgbClr val="E7E7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>
              <a:spcAft>
                <a:spcPts val="200"/>
              </a:spcAft>
            </a:pPr>
            <a:r>
              <a:rPr sz="950" b="0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集合通信效率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3461004" y="6181344"/>
            <a:ext cx="1241298" cy="34747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1430">
            <a:solidFill>
              <a:srgbClr val="E7E7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>
              <a:spcAft>
                <a:spcPts val="200"/>
              </a:spcAft>
            </a:pPr>
            <a:r>
              <a:rPr sz="950" b="0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瓶颈定位图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4757166" y="6181344"/>
            <a:ext cx="1241298" cy="34747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1430">
            <a:solidFill>
              <a:srgbClr val="E7E7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RoCE/UBoE/</a:t>
            </a:r>
          </a:p>
          <a:p>
            <a:pPr algn="ctr">
              <a:spcAft>
                <a:spcPts val="0"/>
              </a:spcAft>
            </a:pPr>
            <a:r>
              <a:rPr sz="900" b="0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网卡方案对比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144768" y="1773936"/>
            <a:ext cx="5815584" cy="182880"/>
          </a:xfrm>
          <a:prstGeom prst="rect">
            <a:avLst/>
          </a:prstGeom>
          <a:noFill/>
        </p:spPr>
        <p:txBody>
          <a:bodyPr wrap="square" lIns="45720" rIns="45720" tIns="27432" bIns="27432" anchor="ctr"/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B5333B"/>
                </a:solidFill>
                <a:latin typeface="微软雅黑"/>
                <a:ea typeface="微软雅黑"/>
                <a:cs typeface="微软雅黑"/>
              </a:rPr>
              <a:t>关键技术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6144768" y="1975104"/>
            <a:ext cx="5815584" cy="14752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1430">
            <a:solidFill>
              <a:srgbClr val="E7E7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6144768" y="2048256"/>
            <a:ext cx="64008" cy="1328928"/>
          </a:xfrm>
          <a:prstGeom prst="rect">
            <a:avLst/>
          </a:prstGeom>
          <a:solidFill>
            <a:srgbClr val="B53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309359" y="2020824"/>
            <a:ext cx="5541264" cy="201168"/>
          </a:xfrm>
          <a:prstGeom prst="rect">
            <a:avLst/>
          </a:prstGeom>
          <a:noFill/>
        </p:spPr>
        <p:txBody>
          <a:bodyPr wrap="square" lIns="45720" rIns="45720" tIns="27432" bIns="27432" anchor="t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B5333B"/>
                </a:solidFill>
                <a:latin typeface="微软雅黑"/>
                <a:ea typeface="微软雅黑"/>
                <a:cs typeface="微软雅黑"/>
              </a:rPr>
              <a:t>关键技术 1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309359" y="2212848"/>
            <a:ext cx="5541264" cy="237744"/>
          </a:xfrm>
          <a:prstGeom prst="rect">
            <a:avLst/>
          </a:prstGeom>
          <a:noFill/>
        </p:spPr>
        <p:txBody>
          <a:bodyPr wrap="square" lIns="45720" rIns="45720" tIns="27432" bIns="27432" anchor="t"/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拓扑与路由可扩仿真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309359" y="2468880"/>
            <a:ext cx="5522976" cy="454152"/>
          </a:xfrm>
          <a:prstGeom prst="rect">
            <a:avLst/>
          </a:prstGeom>
          <a:noFill/>
        </p:spPr>
        <p:txBody>
          <a:bodyPr wrap="square" lIns="45720" rIns="45720" tIns="27432" bIns="27432" anchor="t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1）规模化：</a:t>
            </a:r>
            <a:r>
              <a:rPr sz="1100" b="0">
                <a:solidFill>
                  <a:srgbClr val="585860"/>
                </a:solidFill>
                <a:latin typeface="微软雅黑"/>
                <a:ea typeface="微软雅黑"/>
                <a:cs typeface="微软雅黑"/>
              </a:rPr>
              <a:t>先建可扩拓扑，再注入路由与故障路径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309359" y="2923032"/>
            <a:ext cx="5522976" cy="454152"/>
          </a:xfrm>
          <a:prstGeom prst="rect">
            <a:avLst/>
          </a:prstGeom>
          <a:noFill/>
        </p:spPr>
        <p:txBody>
          <a:bodyPr wrap="square" lIns="45720" rIns="45720" tIns="27432" bIns="27432" anchor="t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2）可对照：</a:t>
            </a:r>
            <a:r>
              <a:rPr sz="1100" b="0">
                <a:solidFill>
                  <a:srgbClr val="585860"/>
                </a:solidFill>
                <a:latin typeface="微软雅黑"/>
                <a:ea typeface="微软雅黑"/>
                <a:cs typeface="微软雅黑"/>
              </a:rPr>
              <a:t>同一负载下对比不同拓扑/路由配置的瓶颈位置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6144768" y="3514344"/>
            <a:ext cx="5815584" cy="14752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1430">
            <a:solidFill>
              <a:srgbClr val="E7E7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6144768" y="3587496"/>
            <a:ext cx="64008" cy="1328928"/>
          </a:xfrm>
          <a:prstGeom prst="rect">
            <a:avLst/>
          </a:prstGeom>
          <a:solidFill>
            <a:srgbClr val="B53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309359" y="3560064"/>
            <a:ext cx="5541264" cy="201168"/>
          </a:xfrm>
          <a:prstGeom prst="rect">
            <a:avLst/>
          </a:prstGeom>
          <a:noFill/>
        </p:spPr>
        <p:txBody>
          <a:bodyPr wrap="square" lIns="45720" rIns="45720" tIns="27432" bIns="27432" anchor="t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B5333B"/>
                </a:solidFill>
                <a:latin typeface="微软雅黑"/>
                <a:ea typeface="微软雅黑"/>
                <a:cs typeface="微软雅黑"/>
              </a:rPr>
              <a:t>关键技术 2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309359" y="3752088"/>
            <a:ext cx="5541264" cy="237744"/>
          </a:xfrm>
          <a:prstGeom prst="rect">
            <a:avLst/>
          </a:prstGeom>
          <a:noFill/>
        </p:spPr>
        <p:txBody>
          <a:bodyPr wrap="square" lIns="45720" rIns="45720" tIns="27432" bIns="27432" anchor="t"/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RoCE 与 UBoE 协议路径对比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309359" y="4008120"/>
            <a:ext cx="5522976" cy="454152"/>
          </a:xfrm>
          <a:prstGeom prst="rect">
            <a:avLst/>
          </a:prstGeom>
          <a:noFill/>
        </p:spPr>
        <p:txBody>
          <a:bodyPr wrap="square" lIns="45720" rIns="45720" tIns="27432" bIns="27432" anchor="t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1）可切换：</a:t>
            </a:r>
            <a:r>
              <a:rPr sz="1100" b="0">
                <a:solidFill>
                  <a:srgbClr val="585860"/>
                </a:solidFill>
                <a:latin typeface="微软雅黑"/>
                <a:ea typeface="微软雅黑"/>
                <a:cs typeface="微软雅黑"/>
              </a:rPr>
              <a:t>同一流量意图分别走 RoCE / UBoE 行为模型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309359" y="4462272"/>
            <a:ext cx="5522976" cy="454152"/>
          </a:xfrm>
          <a:prstGeom prst="rect">
            <a:avLst/>
          </a:prstGeom>
          <a:noFill/>
        </p:spPr>
        <p:txBody>
          <a:bodyPr wrap="square" lIns="45720" rIns="45720" tIns="27432" bIns="27432" anchor="t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2）可复现：</a:t>
            </a:r>
            <a:r>
              <a:rPr sz="1100" b="0">
                <a:solidFill>
                  <a:srgbClr val="585860"/>
                </a:solidFill>
                <a:latin typeface="微软雅黑"/>
                <a:ea typeface="微软雅黑"/>
                <a:cs typeface="微软雅黑"/>
              </a:rPr>
              <a:t>集合通信与跨 ScaleOut 流量按事件序回放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6144768" y="5053584"/>
            <a:ext cx="5815584" cy="14752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1430">
            <a:solidFill>
              <a:srgbClr val="E7E7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6144768" y="5126736"/>
            <a:ext cx="64008" cy="1328928"/>
          </a:xfrm>
          <a:prstGeom prst="rect">
            <a:avLst/>
          </a:prstGeom>
          <a:solidFill>
            <a:srgbClr val="B53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6309359" y="5099304"/>
            <a:ext cx="5541264" cy="201168"/>
          </a:xfrm>
          <a:prstGeom prst="rect">
            <a:avLst/>
          </a:prstGeom>
          <a:noFill/>
        </p:spPr>
        <p:txBody>
          <a:bodyPr wrap="square" lIns="45720" rIns="45720" tIns="27432" bIns="27432" anchor="t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B5333B"/>
                </a:solidFill>
                <a:latin typeface="微软雅黑"/>
                <a:ea typeface="微软雅黑"/>
                <a:cs typeface="微软雅黑"/>
              </a:rPr>
              <a:t>关键技术 3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309359" y="5291328"/>
            <a:ext cx="5541264" cy="237744"/>
          </a:xfrm>
          <a:prstGeom prst="rect">
            <a:avLst/>
          </a:prstGeom>
          <a:noFill/>
        </p:spPr>
        <p:txBody>
          <a:bodyPr wrap="square" lIns="45720" rIns="45720" tIns="27432" bIns="27432" anchor="t"/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182X 网卡与模组级插拔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309359" y="5547360"/>
            <a:ext cx="5522976" cy="454152"/>
          </a:xfrm>
          <a:prstGeom prst="rect">
            <a:avLst/>
          </a:prstGeom>
          <a:noFill/>
        </p:spPr>
        <p:txBody>
          <a:bodyPr wrap="square" lIns="45720" rIns="45720" tIns="27432" bIns="27432" anchor="t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1）保真：</a:t>
            </a:r>
            <a:r>
              <a:rPr sz="1100" b="0">
                <a:solidFill>
                  <a:srgbClr val="585860"/>
                </a:solidFill>
                <a:latin typeface="微软雅黑"/>
                <a:ea typeface="微软雅黑"/>
                <a:cs typeface="微软雅黑"/>
              </a:rPr>
              <a:t>用 182X 队列/DMA/offload 行为校准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585860"/>
                </a:solidFill>
                <a:latin typeface="微软雅黑"/>
                <a:ea typeface="微软雅黑"/>
                <a:cs typeface="微软雅黑"/>
              </a:rPr>
              <a:t>端侧延迟与吞吐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309359" y="6001512"/>
            <a:ext cx="5522976" cy="454152"/>
          </a:xfrm>
          <a:prstGeom prst="rect">
            <a:avLst/>
          </a:prstGeom>
          <a:noFill/>
        </p:spPr>
        <p:txBody>
          <a:bodyPr wrap="square" lIns="45720" rIns="45720" tIns="27432" bIns="27432" anchor="t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2）可替换：</a:t>
            </a:r>
            <a:r>
              <a:rPr sz="1100" b="0">
                <a:solidFill>
                  <a:srgbClr val="585860"/>
                </a:solidFill>
                <a:latin typeface="微软雅黑"/>
                <a:ea typeface="微软雅黑"/>
                <a:cs typeface="微软雅黑"/>
              </a:rPr>
              <a:t>模组接口固定，换网卡模型不改上层拓扑与协议层</a:t>
            </a:r>
          </a:p>
        </p:txBody>
      </p:sp>
      <p:sp>
        <p:nvSpPr>
          <p:cNvPr id="74" name="Rectangle 73"/>
          <p:cNvSpPr/>
          <p:nvPr/>
        </p:nvSpPr>
        <p:spPr>
          <a:xfrm>
            <a:off x="0" y="6638544"/>
            <a:ext cx="12191695" cy="219456"/>
          </a:xfrm>
          <a:prstGeom prst="rect">
            <a:avLst/>
          </a:prstGeom>
          <a:solidFill>
            <a:srgbClr val="E9EC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0" y="6638544"/>
            <a:ext cx="146304" cy="219456"/>
          </a:xfrm>
          <a:prstGeom prst="rect">
            <a:avLst/>
          </a:prstGeom>
          <a:solidFill>
            <a:srgbClr val="1A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329184" y="6638544"/>
            <a:ext cx="10058400" cy="219456"/>
          </a:xfrm>
          <a:prstGeom prst="rect">
            <a:avLst/>
          </a:prstGeom>
          <a:noFill/>
        </p:spPr>
        <p:txBody>
          <a:bodyPr wrap="square" lIns="45720" rIns="45720" tIns="27432" bIns="27432" anchor="ctr"/>
          <a:lstStyle/>
          <a:p>
            <a:pPr algn="l">
              <a:spcAft>
                <a:spcPts val="200"/>
              </a:spcAft>
            </a:pPr>
            <a:r>
              <a:rPr sz="850" b="0">
                <a:solidFill>
                  <a:srgbClr val="7A8896"/>
                </a:solidFill>
                <a:latin typeface="微软雅黑"/>
                <a:ea typeface="微软雅黑"/>
                <a:cs typeface="微软雅黑"/>
              </a:rPr>
              <a:t>ScaleOut 网络仿真能力  ·  立项讨论稿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0332720" y="6638544"/>
            <a:ext cx="1554480" cy="219456"/>
          </a:xfrm>
          <a:prstGeom prst="rect">
            <a:avLst/>
          </a:prstGeom>
          <a:noFill/>
        </p:spPr>
        <p:txBody>
          <a:bodyPr wrap="square" lIns="45720" rIns="45720" tIns="27432" bIns="27432" anchor="ctr"/>
          <a:lstStyle/>
          <a:p>
            <a:pPr algn="r">
              <a:spcAft>
                <a:spcPts val="200"/>
              </a:spcAft>
            </a:pPr>
            <a:r>
              <a:rPr sz="850" b="0">
                <a:solidFill>
                  <a:srgbClr val="5C6B7A"/>
                </a:solidFill>
                <a:latin typeface="微软雅黑"/>
                <a:ea typeface="微软雅黑"/>
                <a:cs typeface="微软雅黑"/>
              </a:rPr>
              <a:t>01  /  01</a:t>
            </a:r>
          </a:p>
        </p:txBody>
      </p:sp>
      <p:sp>
        <p:nvSpPr>
          <p:cNvPr id="78" name="Rectangle 77"/>
          <p:cNvSpPr/>
          <p:nvPr/>
        </p:nvSpPr>
        <p:spPr>
          <a:xfrm>
            <a:off x="0" y="6638544"/>
            <a:ext cx="146304" cy="219456"/>
          </a:xfrm>
          <a:prstGeom prst="rect">
            <a:avLst/>
          </a:prstGeom>
          <a:solidFill>
            <a:srgbClr val="B53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