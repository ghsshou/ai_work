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v6：沿用 v5 版式（浅灰过渡箭头、难点红字无边框）；框内术语换成通俗说法。</a:t>
            </a:r>
          </a:p>
          <a:p>
            <a:r>
              <a:t>① 多源图捕获与 DAG 归一：模型结构（配置与层级结构）、源码（语法树分析）、框架计算图（PyTorch / JAX / MindSpore）、运行 Trace（实测耗时与调用序）并列捕获；再依次做算子实例化（拆成基础算子）、形状精度绑定（张量尺寸推导）、控制流展开（循环分支摊平）、多框架归一（统一算子表示）。难点是输入尺寸可变、图捕获不全。</a:t>
            </a:r>
          </a:p>
          <a:p>
            <a:r>
              <a:t>② 规模链：卡组布局规划（按并行维度分组、通信就近放置）→ 逐卡展开（单卡图复制全卡、同类卡只算一次）→ 并行策略切分（切分逐层传递、插入卡间通信）→ 批次并发扩展（微批流水排布、请求动态拼批）；难点是万卡规模下图过大、切分前后要一致。序列链：长序列切分（序列分到多卡、注意力环形传递）→ 公共前缀复用（缓存分页管理、相同前缀匹配）→ 低精度替换（8 位低精度、插入精度转换）→ 融合与重计算（小算子合并、以算换显存）；难点是序列长短不一、缓存占显存。两链汇合为逐卡执行图，再派生集合通信、点对点流量、内存容量、数据读取四张域图。</a:t>
            </a:r>
          </a:p>
          <a:p>
            <a:r>
              <a:t>③ 约束调度与 Trace 重放：依赖展开（跨卡依赖补齐）→ 算子调度（计算与通信重叠）→ 执行序编排（按资源约束排序）→ 多场景重放（按事件逐步回放）；难点是计算通信重叠与跨卡同步。</a:t>
            </a:r>
          </a:p>
          <a:p>
            <a:r>
              <a:t>输入直接进入 DAG 引擎，下面是输出层，本页不接仿真核。配色遵循 AICO-PPT：品牌红 #b5333b 只标 DAG 引擎，结构用灰蓝 #566472，过渡箭头浅灰 #c8c8cc。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1521440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设计态 AI 集群仿真器  ·  框架侧仿真能力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9184"/>
            <a:ext cx="11612880" cy="34747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从多框架导出统一 DAG，并按场景变换为大规模执行图与网络、访存图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713232"/>
            <a:ext cx="1177747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804672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13232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面向场景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713232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面向训练、推理、RL 等框架负载的端到端行为仿真，对照不同规模、资源、调度与并行限制下的吞吐、排队及瓶颈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1133856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042416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竞争力目标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042416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从模型结构与源码导出统一 DAG，按场景动态变换出大卡执行图及网络、内存读取图，形成可复用的框架级泛化仿真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463040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371600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技术挑战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1371600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训练、推理、RL 框架迭代快，结构、源码与运行图粒度不一；规模、并行、序列、通信和访存一变，静态 DAG 难以统一表征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1773936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能力结构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1975104"/>
            <a:ext cx="621792" cy="292608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1975104"/>
            <a:ext cx="621792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训练框架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64842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推理框架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1004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RL 框架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7166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模型与源码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342132" y="2272284"/>
            <a:ext cx="182880" cy="91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2368296"/>
            <a:ext cx="621792" cy="3749039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368296"/>
            <a:ext cx="621792" cy="3749039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DAG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引擎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本页核心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2368296"/>
            <a:ext cx="5129783" cy="3749039"/>
          </a:xfrm>
          <a:prstGeom prst="roundRect">
            <a:avLst>
              <a:gd name="adj" fmla="val 3000"/>
            </a:avLst>
          </a:prstGeom>
          <a:solidFill>
            <a:srgbClr val="FDF0F1"/>
          </a:solidFill>
          <a:ln w="12700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2414015"/>
            <a:ext cx="5001768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① 多源图捕获与 DAG 归一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2823" y="2427732"/>
            <a:ext cx="1721632" cy="15544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难点：输入尺寸可变 · 图捕获不全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2596896"/>
            <a:ext cx="120929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模型结构解析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配置与层级结构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6846" y="2596896"/>
            <a:ext cx="120929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源码静态抽取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源码语法树分析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61004" y="2596896"/>
            <a:ext cx="120929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框架计算图抽取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PyTorch · JAX 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25162" y="2596896"/>
            <a:ext cx="120929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运行 Trace 回填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实测耗时与调用序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3342132" y="2969971"/>
            <a:ext cx="182880" cy="676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entagon 34"/>
          <p:cNvSpPr/>
          <p:nvPr/>
        </p:nvSpPr>
        <p:spPr>
          <a:xfrm>
            <a:off x="932688" y="3044951"/>
            <a:ext cx="1277874" cy="365760"/>
          </a:xfrm>
          <a:prstGeom prst="homePlate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算子实例化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拆成基础算子</a:t>
            </a:r>
          </a:p>
        </p:txBody>
      </p:sp>
      <p:sp>
        <p:nvSpPr>
          <p:cNvPr id="36" name="Chevron 35"/>
          <p:cNvSpPr/>
          <p:nvPr/>
        </p:nvSpPr>
        <p:spPr>
          <a:xfrm>
            <a:off x="2173986" y="3044951"/>
            <a:ext cx="1277874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形状精度绑定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张量尺寸推导</a:t>
            </a:r>
          </a:p>
        </p:txBody>
      </p:sp>
      <p:sp>
        <p:nvSpPr>
          <p:cNvPr id="37" name="Chevron 36"/>
          <p:cNvSpPr/>
          <p:nvPr/>
        </p:nvSpPr>
        <p:spPr>
          <a:xfrm>
            <a:off x="3415284" y="3044951"/>
            <a:ext cx="1277874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控制流展开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循环分支摊平</a:t>
            </a:r>
          </a:p>
        </p:txBody>
      </p:sp>
      <p:sp>
        <p:nvSpPr>
          <p:cNvPr id="38" name="Chevron 37"/>
          <p:cNvSpPr/>
          <p:nvPr/>
        </p:nvSpPr>
        <p:spPr>
          <a:xfrm>
            <a:off x="4656581" y="3044951"/>
            <a:ext cx="1241298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多框架归一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统一算子表示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3342132" y="3421684"/>
            <a:ext cx="182880" cy="6949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3502151"/>
            <a:ext cx="5001768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② 规模链 / 序列链图变换与域图派生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" y="3685031"/>
            <a:ext cx="245516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3712463"/>
            <a:ext cx="914400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规模链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3240" y="3726179"/>
            <a:ext cx="1621459" cy="15544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难点：万卡图过大 · 切分前后一致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" y="3941063"/>
            <a:ext cx="768096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卡组布局规划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01368" y="3963923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按并行维度分组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71750" y="3963923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通信就近放置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1298448" y="4150004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5840" y="4208525"/>
            <a:ext cx="768096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逐卡展开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01368" y="4231386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单卡图复制全卡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71750" y="4231386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同类卡只算一次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1298448" y="4417466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05840" y="4475988"/>
            <a:ext cx="768096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并行策略切分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01368" y="4498848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切分逐层传递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71750" y="4498848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插入卡间通信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1298448" y="4684928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05840" y="4743450"/>
            <a:ext cx="768096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批次并发扩展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801368" y="4766310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微批流水排布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71750" y="4766310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请求动态拼批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79292" y="3685031"/>
            <a:ext cx="245516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52444" y="3712463"/>
            <a:ext cx="914400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序列链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39844" y="3726179"/>
            <a:ext cx="1621459" cy="15544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难点：序列长短不一 · 缓存占显存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52444" y="3941063"/>
            <a:ext cx="768096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长序列切分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47972" y="3963923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序列分到多卡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18354" y="3963923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注意力环形传递</a:t>
            </a:r>
          </a:p>
        </p:txBody>
      </p:sp>
      <p:sp>
        <p:nvSpPr>
          <p:cNvPr id="65" name="Down Arrow 64"/>
          <p:cNvSpPr/>
          <p:nvPr/>
        </p:nvSpPr>
        <p:spPr>
          <a:xfrm>
            <a:off x="3845052" y="4150004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552444" y="4208525"/>
            <a:ext cx="768096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公共前缀复用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47972" y="4231386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缓存分页管理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118354" y="4231386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相同前缀匹配</a:t>
            </a:r>
          </a:p>
        </p:txBody>
      </p:sp>
      <p:sp>
        <p:nvSpPr>
          <p:cNvPr id="69" name="Down Arrow 68"/>
          <p:cNvSpPr/>
          <p:nvPr/>
        </p:nvSpPr>
        <p:spPr>
          <a:xfrm>
            <a:off x="3845052" y="4417466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552444" y="4475988"/>
            <a:ext cx="768096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低精度替换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47972" y="4498848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8 位低精度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118354" y="4498848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插入精度转换</a:t>
            </a:r>
          </a:p>
        </p:txBody>
      </p:sp>
      <p:sp>
        <p:nvSpPr>
          <p:cNvPr id="73" name="Down Arrow 72"/>
          <p:cNvSpPr/>
          <p:nvPr/>
        </p:nvSpPr>
        <p:spPr>
          <a:xfrm>
            <a:off x="3845052" y="4684928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552444" y="4743450"/>
            <a:ext cx="768096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融合与重计算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47972" y="4766310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小算子合并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118354" y="4766310"/>
            <a:ext cx="742950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以算换显存</a:t>
            </a:r>
          </a:p>
        </p:txBody>
      </p:sp>
      <p:sp>
        <p:nvSpPr>
          <p:cNvPr id="77" name="Down Arrow 76"/>
          <p:cNvSpPr/>
          <p:nvPr/>
        </p:nvSpPr>
        <p:spPr>
          <a:xfrm>
            <a:off x="2068829" y="5009083"/>
            <a:ext cx="182880" cy="676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own Arrow 77"/>
          <p:cNvSpPr/>
          <p:nvPr/>
        </p:nvSpPr>
        <p:spPr>
          <a:xfrm>
            <a:off x="4615434" y="5009083"/>
            <a:ext cx="182880" cy="676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32688" y="5084063"/>
            <a:ext cx="786384" cy="3474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B5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逐卡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执行图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1737360" y="5188305"/>
            <a:ext cx="146304" cy="13898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901952" y="5084063"/>
            <a:ext cx="966977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多卡同步与交换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923794" y="5084063"/>
            <a:ext cx="966977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点对点流量图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流水线级间传输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945635" y="5084063"/>
            <a:ext cx="966977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内存容量图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显存占用时序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967478" y="5084063"/>
            <a:ext cx="966977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数据读取图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样本与检查点读写</a:t>
            </a:r>
          </a:p>
        </p:txBody>
      </p:sp>
      <p:sp>
        <p:nvSpPr>
          <p:cNvPr id="85" name="Down Arrow 84"/>
          <p:cNvSpPr/>
          <p:nvPr/>
        </p:nvSpPr>
        <p:spPr>
          <a:xfrm>
            <a:off x="3342132" y="5442508"/>
            <a:ext cx="182880" cy="6949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2688" y="5522975"/>
            <a:ext cx="5001768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③ 约束调度与 Trace 重放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15236" y="5536691"/>
            <a:ext cx="1619219" cy="15544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难点：计算通信重叠 · 跨卡同步</a:t>
            </a:r>
          </a:p>
        </p:txBody>
      </p:sp>
      <p:sp>
        <p:nvSpPr>
          <p:cNvPr id="88" name="Pentagon 87"/>
          <p:cNvSpPr/>
          <p:nvPr/>
        </p:nvSpPr>
        <p:spPr>
          <a:xfrm>
            <a:off x="932688" y="5705855"/>
            <a:ext cx="1277874" cy="365760"/>
          </a:xfrm>
          <a:prstGeom prst="homePlate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依赖展开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跨卡依赖补齐</a:t>
            </a:r>
          </a:p>
        </p:txBody>
      </p:sp>
      <p:sp>
        <p:nvSpPr>
          <p:cNvPr id="89" name="Chevron 88"/>
          <p:cNvSpPr/>
          <p:nvPr/>
        </p:nvSpPr>
        <p:spPr>
          <a:xfrm>
            <a:off x="2173986" y="5705855"/>
            <a:ext cx="1277874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算子调度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计算与通信重叠</a:t>
            </a:r>
          </a:p>
        </p:txBody>
      </p:sp>
      <p:sp>
        <p:nvSpPr>
          <p:cNvPr id="90" name="Chevron 89"/>
          <p:cNvSpPr/>
          <p:nvPr/>
        </p:nvSpPr>
        <p:spPr>
          <a:xfrm>
            <a:off x="3415284" y="5705855"/>
            <a:ext cx="1277874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执行序编排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按资源约束排序</a:t>
            </a:r>
          </a:p>
        </p:txBody>
      </p:sp>
      <p:sp>
        <p:nvSpPr>
          <p:cNvPr id="91" name="Chevron 90"/>
          <p:cNvSpPr/>
          <p:nvPr/>
        </p:nvSpPr>
        <p:spPr>
          <a:xfrm>
            <a:off x="4656581" y="5705855"/>
            <a:ext cx="1241298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多场景重放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按事件逐步回放</a:t>
            </a:r>
          </a:p>
        </p:txBody>
      </p:sp>
      <p:sp>
        <p:nvSpPr>
          <p:cNvPr id="92" name="Down Arrow 91"/>
          <p:cNvSpPr/>
          <p:nvPr/>
        </p:nvSpPr>
        <p:spPr>
          <a:xfrm>
            <a:off x="3342132" y="6121907"/>
            <a:ext cx="182880" cy="91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01168" y="6217920"/>
            <a:ext cx="621792" cy="310896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01168" y="6217920"/>
            <a:ext cx="621792" cy="31089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68680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场景执行图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164842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网络流量图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461004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内存访存图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757166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吞吐瓶颈对照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44768" y="1773936"/>
            <a:ext cx="5815584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144768" y="197510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144768" y="204825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09359" y="202082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09359" y="221284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多源图捕获，再归一为可仿真 DAG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09359" y="246888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1）多源捕获：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结构配置、源码语法树、框架计算图（PyTorch / JAX / MindSpore）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与运行 Trace 四路同时进入。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09359" y="292303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2）归一收束：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先拆成基础算子，再推导张量尺寸与精度，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摊平循环与分支，归一为统一算子表示。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144768" y="351434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144768" y="358749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59" y="356006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59" y="375208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按场景做图变换，并派生域图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09359" y="400812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1）双链变换：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规模链做逐卡展开、切分逐层传递与卡间通信插入；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序列链做长序列分卡、公共前缀复用、低精度替换与重计算。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09359" y="446227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2）执行图分叉：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双链汇合为逐卡执行图，再派生多卡同步通信、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点对点流量、显存容量与数据读取四张域图。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144768" y="505358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44768" y="512673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09359" y="509930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09359" y="529132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按约束调度，再做 Trace 重放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09359" y="554736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1）调度顺序：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先补齐跨卡依赖，再安排计算与通信重叠，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最后按资源约束排定执行顺序。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09359" y="600151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2）重放产出：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按事件逐步回放多场景，输出执行图、流量图、访存图，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以及吞吐、排队与瓶颈对照。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框架侧仿真能力  ·  立项讨论稿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