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讲解主线：底层算力/内存/网络仿真解决的是「系统怎么跑」，而设计态真正的输入是「跑什么」。设计态的目标系统和未来模型往往还不存在，所以负载不能只回放历史 Trace，必须可画像、可参数化、可外推。</a:t>
            </a:r>
          </a:p>
          <a:p>
            <a:r>
              <a:t>①模型画像解决单作业内部的计算/通信/访存结构；②到达与请求分布解决多作业、多请求在时间上的叠加；③Trace 拟合与外推把真实生产数据变成可放大、可迁移的模型参数；④数据工厂把以上能力流水线化、资产化；⑤统一 IR 让同一份负载以不同保真度驱动已有仿真内核；⑥闭环校准用实测保证可信度。</a:t>
            </a:r>
          </a:p>
          <a:p>
            <a:r>
              <a:t>KPI 为建议值，需结合现有实测平台规模与项目周期对齐。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118872"/>
            <a:ext cx="11521440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50" b="1" i="0">
                <a:solidFill>
                  <a:srgbClr val="1A5FA8"/>
                </a:solidFill>
                <a:latin typeface="微软雅黑"/>
                <a:ea typeface="微软雅黑"/>
                <a:cs typeface="微软雅黑"/>
              </a:rPr>
              <a:t>设计态 AI 集群仿真器  ·  立项核心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1521440" cy="42062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21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以「负载引擎」为核心的设计态仿真器：负载刻画准，系统设计才可信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749808"/>
            <a:ext cx="11521440" cy="29260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底层 NPU / 内存存储 / 网络仿真能力已具备；本项目聚焦负载的画像、到达建模、Trace 拟合外推、数据工厂与统一导入，形成「真实负载 → 可外推负载 → 设计结论」闭环。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1143000"/>
            <a:ext cx="1993392" cy="25603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1" i="0">
                <a:solidFill>
                  <a:srgbClr val="123E6E"/>
                </a:solidFill>
                <a:latin typeface="微软雅黑"/>
                <a:ea typeface="微软雅黑"/>
                <a:cs typeface="微软雅黑"/>
              </a:rPr>
              <a:t>输入源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" y="1435608"/>
            <a:ext cx="1993392" cy="841248"/>
          </a:xfrm>
          <a:prstGeom prst="roundRect">
            <a:avLst>
              <a:gd name="adj" fmla="val 5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472184"/>
            <a:ext cx="1920240" cy="786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123E6E"/>
                </a:solidFill>
                <a:latin typeface="微软雅黑"/>
                <a:ea typeface="微软雅黑"/>
                <a:cs typeface="微软雅黑"/>
              </a:rPr>
              <a:t>生产 Trace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训练 Profiling（msprof/Kineto）、HCCL 通信日志、推理服务请求日志、集群遥测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" y="2350008"/>
            <a:ext cx="1993392" cy="841248"/>
          </a:xfrm>
          <a:prstGeom prst="roundRect">
            <a:avLst>
              <a:gd name="adj" fmla="val 5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2386584"/>
            <a:ext cx="1920240" cy="786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123E6E"/>
                </a:solidFill>
                <a:latin typeface="微软雅黑"/>
                <a:ea typeface="微软雅黑"/>
                <a:cs typeface="微软雅黑"/>
              </a:rPr>
              <a:t>模型与并行配置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模型结构定义、并行策略、目标模型假设（如 10T MoE、百万上下文）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" y="3264408"/>
            <a:ext cx="1993392" cy="841248"/>
          </a:xfrm>
          <a:prstGeom prst="roundRect">
            <a:avLst>
              <a:gd name="adj" fmla="val 5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" y="3300984"/>
            <a:ext cx="1920240" cy="786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123E6E"/>
                </a:solidFill>
                <a:latin typeface="微软雅黑"/>
                <a:ea typeface="微软雅黑"/>
                <a:cs typeface="微软雅黑"/>
              </a:rPr>
              <a:t>业务规划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流量预测、SLO 等级、租户结构、训推混部比例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" y="4215384"/>
            <a:ext cx="1993392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A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4251960"/>
            <a:ext cx="1901952" cy="160020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123E6E"/>
                </a:solidFill>
                <a:latin typeface="微软雅黑"/>
                <a:ea typeface="微软雅黑"/>
                <a:cs typeface="微软雅黑"/>
              </a:rPr>
              <a:t>设计态 ≠ 在线工具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1A5FA8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无实时约束：以时间换精度，可做包级细粒度仿真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1A5FA8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目标系统与模型往往尚不存在：负载必须</a:t>
            </a:r>
            <a:r>
              <a:rPr sz="88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可参数化、可外推</a:t>
            </a: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，不能只靠回放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1A5FA8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服务于设计空间探索（DSE）：需批量扫描上千种配置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359152" y="3246120"/>
            <a:ext cx="219456" cy="38404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45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15184" y="1143000"/>
            <a:ext cx="6510528" cy="4727448"/>
          </a:xfrm>
          <a:prstGeom prst="roundRect">
            <a:avLst>
              <a:gd name="adj" fmla="val 2500"/>
            </a:avLst>
          </a:prstGeom>
          <a:solidFill>
            <a:srgbClr val="FDF3EA"/>
          </a:solidFill>
          <a:ln w="22225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06624" y="1170432"/>
            <a:ext cx="6327648" cy="29260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负载引擎 Workload Engine</a:t>
            </a:r>
            <a:r>
              <a:rPr sz="9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   本项目核心：让负载可度量、可生成、可校准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06624" y="1508760"/>
            <a:ext cx="206044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06624" y="1508760"/>
            <a:ext cx="2060448" cy="329184"/>
          </a:xfrm>
          <a:prstGeom prst="roundRect">
            <a:avLst>
              <a:gd name="adj" fmla="val 20000"/>
            </a:avLst>
          </a:prstGeom>
          <a:solidFill>
            <a:srgbClr val="FB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61488" y="1527048"/>
            <a:ext cx="1969008" cy="29260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① </a:t>
            </a:r>
            <a:r>
              <a:rPr sz="115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模型画像</a:t>
            </a:r>
            <a:r>
              <a:rPr sz="8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1892808"/>
            <a:ext cx="1969008" cy="1408176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5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5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结构画像：</a:t>
            </a:r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Dense/MoE/长序列；层数、专家数、TopK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5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5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并行展开：</a:t>
            </a:r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TP/PP/DP/EP/CP → 每 rank 算子图 + 通信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5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5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算子代价：</a:t>
            </a:r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Roofline + 实测表 + 回归外推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5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5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动态特征：</a:t>
            </a:r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MoE 路由偏斜、KV 增长、重计算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0224" y="1508760"/>
            <a:ext cx="206044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40224" y="1508760"/>
            <a:ext cx="2060448" cy="329184"/>
          </a:xfrm>
          <a:prstGeom prst="roundRect">
            <a:avLst>
              <a:gd name="adj" fmla="val 20000"/>
            </a:avLst>
          </a:prstGeom>
          <a:solidFill>
            <a:srgbClr val="FB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5088" y="1527048"/>
            <a:ext cx="1969008" cy="29260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② </a:t>
            </a:r>
            <a:r>
              <a:rPr sz="115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到达与请求分布</a:t>
            </a:r>
            <a:r>
              <a:rPr sz="8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5088" y="1892808"/>
            <a:ext cx="1969008" cy="1408176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5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5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到达过程：</a:t>
            </a:r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突发 MMPP/Hawkes、日周期、多租户叠加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5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5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请求形态：</a:t>
            </a:r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输入/输出长度联合分布、前缀复用、多轮/Agent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5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5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训练作业：</a:t>
            </a:r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到达、规模幂律、时长、故障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5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5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条件化：</a:t>
            </a:r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按业务/时段/SLO 参数化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73824" y="1508760"/>
            <a:ext cx="206044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73824" y="1508760"/>
            <a:ext cx="2060448" cy="329184"/>
          </a:xfrm>
          <a:prstGeom prst="roundRect">
            <a:avLst>
              <a:gd name="adj" fmla="val 20000"/>
            </a:avLst>
          </a:prstGeom>
          <a:solidFill>
            <a:srgbClr val="FB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8688" y="1527048"/>
            <a:ext cx="1969008" cy="29260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③ </a:t>
            </a:r>
            <a:r>
              <a:rPr sz="115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Trace 拟合与外推</a:t>
            </a:r>
            <a:r>
              <a:rPr sz="8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8688" y="1892808"/>
            <a:ext cx="1969008" cy="1408176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5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5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对齐提取：</a:t>
            </a:r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跨 rank 时钟对齐、依赖与关键路径重建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5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5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压缩：</a:t>
            </a:r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代表迭代 + 扰动统计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5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5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拟合：</a:t>
            </a:r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混合分布（EM）+ KS/W1 检验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5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5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外推：</a:t>
            </a:r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千卡→十万卡扩展；跨硬件重定向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06624" y="3410712"/>
            <a:ext cx="632764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61488" y="3438144"/>
            <a:ext cx="6327648" cy="27432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④ </a:t>
            </a:r>
            <a:r>
              <a:rPr sz="115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负载数据工厂</a:t>
            </a:r>
            <a:r>
              <a:rPr sz="8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  Workload Data Factory</a:t>
            </a:r>
          </a:p>
        </p:txBody>
      </p:sp>
      <p:sp>
        <p:nvSpPr>
          <p:cNvPr id="33" name="Pentagon 32"/>
          <p:cNvSpPr/>
          <p:nvPr/>
        </p:nvSpPr>
        <p:spPr>
          <a:xfrm>
            <a:off x="2779776" y="3739896"/>
            <a:ext cx="919625" cy="310896"/>
          </a:xfrm>
          <a:prstGeom prst="homePlate">
            <a:avLst>
              <a:gd name="adj" fmla="val 30000"/>
            </a:avLst>
          </a:prstGeom>
          <a:solidFill>
            <a:srgbClr val="FB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3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采集</a:t>
            </a:r>
          </a:p>
        </p:txBody>
      </p:sp>
      <p:sp>
        <p:nvSpPr>
          <p:cNvPr id="34" name="Chevron 33"/>
          <p:cNvSpPr/>
          <p:nvPr/>
        </p:nvSpPr>
        <p:spPr>
          <a:xfrm>
            <a:off x="3662825" y="3739896"/>
            <a:ext cx="919625" cy="310896"/>
          </a:xfrm>
          <a:prstGeom prst="chevron">
            <a:avLst>
              <a:gd name="adj" fmla="val 30000"/>
            </a:avLst>
          </a:prstGeom>
          <a:solidFill>
            <a:srgbClr val="FB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3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清洗/脱敏</a:t>
            </a:r>
          </a:p>
        </p:txBody>
      </p:sp>
      <p:sp>
        <p:nvSpPr>
          <p:cNvPr id="35" name="Chevron 34"/>
          <p:cNvSpPr/>
          <p:nvPr/>
        </p:nvSpPr>
        <p:spPr>
          <a:xfrm>
            <a:off x="4545874" y="3739896"/>
            <a:ext cx="919625" cy="310896"/>
          </a:xfrm>
          <a:prstGeom prst="chevron">
            <a:avLst>
              <a:gd name="adj" fmla="val 30000"/>
            </a:avLst>
          </a:prstGeom>
          <a:solidFill>
            <a:srgbClr val="FB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3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特征化</a:t>
            </a:r>
          </a:p>
        </p:txBody>
      </p:sp>
      <p:sp>
        <p:nvSpPr>
          <p:cNvPr id="36" name="Chevron 35"/>
          <p:cNvSpPr/>
          <p:nvPr/>
        </p:nvSpPr>
        <p:spPr>
          <a:xfrm>
            <a:off x="5428923" y="3739896"/>
            <a:ext cx="919625" cy="310896"/>
          </a:xfrm>
          <a:prstGeom prst="chevron">
            <a:avLst>
              <a:gd name="adj" fmla="val 30000"/>
            </a:avLst>
          </a:prstGeom>
          <a:solidFill>
            <a:srgbClr val="C45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3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统计/生成</a:t>
            </a:r>
          </a:p>
        </p:txBody>
      </p:sp>
      <p:sp>
        <p:nvSpPr>
          <p:cNvPr id="37" name="Chevron 36"/>
          <p:cNvSpPr/>
          <p:nvPr/>
        </p:nvSpPr>
        <p:spPr>
          <a:xfrm>
            <a:off x="6311972" y="3739896"/>
            <a:ext cx="919625" cy="310896"/>
          </a:xfrm>
          <a:prstGeom prst="chevron">
            <a:avLst>
              <a:gd name="adj" fmla="val 30000"/>
            </a:avLst>
          </a:prstGeom>
          <a:solidFill>
            <a:srgbClr val="FB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3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合成</a:t>
            </a:r>
          </a:p>
        </p:txBody>
      </p:sp>
      <p:sp>
        <p:nvSpPr>
          <p:cNvPr id="38" name="Chevron 37"/>
          <p:cNvSpPr/>
          <p:nvPr/>
        </p:nvSpPr>
        <p:spPr>
          <a:xfrm>
            <a:off x="7195021" y="3739896"/>
            <a:ext cx="919625" cy="310896"/>
          </a:xfrm>
          <a:prstGeom prst="chevron">
            <a:avLst>
              <a:gd name="adj" fmla="val 30000"/>
            </a:avLst>
          </a:prstGeom>
          <a:solidFill>
            <a:srgbClr val="C45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3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保真校验</a:t>
            </a:r>
          </a:p>
        </p:txBody>
      </p:sp>
      <p:sp>
        <p:nvSpPr>
          <p:cNvPr id="39" name="Chevron 38"/>
          <p:cNvSpPr/>
          <p:nvPr/>
        </p:nvSpPr>
        <p:spPr>
          <a:xfrm>
            <a:off x="8078070" y="3739896"/>
            <a:ext cx="919625" cy="310896"/>
          </a:xfrm>
          <a:prstGeom prst="chevron">
            <a:avLst>
              <a:gd name="adj" fmla="val 30000"/>
            </a:avLst>
          </a:prstGeom>
          <a:solidFill>
            <a:srgbClr val="FB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3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版本入库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61488" y="4087368"/>
            <a:ext cx="6236208" cy="42062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产出：</a:t>
            </a: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场景化标准负载库：预训练 / RL 后训练 / 在线推理 / PD 分离 / Agent 长上下文 / 训推混部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手段：</a:t>
            </a: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参数化生成器 + 生成式合成，按「模型×规模×流量」旋钮批量产出 DSE 输入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06624" y="4581144"/>
            <a:ext cx="4041648" cy="1216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61488" y="4608576"/>
            <a:ext cx="3950208" cy="117043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⑤ </a:t>
            </a:r>
            <a:r>
              <a:rPr sz="115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统一负载 IR 与多保真导入</a:t>
            </a:r>
            <a:r>
              <a:rPr sz="8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  Workload IR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硬件无关执行图 IR（兼容 Chakra ET）：计算/通信/访存节点+依赖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L0 解析 → L1 算子图 → L2 包级，热点按需提升保真度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集合通信分解为流下发网络仿真；访存/KV 流量下发内存仿真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21424" y="4581144"/>
            <a:ext cx="2212848" cy="1216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76288" y="4608576"/>
            <a:ext cx="2121408" cy="117043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⑥ </a:t>
            </a:r>
            <a:r>
              <a:rPr sz="115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闭环校准</a:t>
            </a:r>
            <a:r>
              <a:rPr sz="8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  Calibration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小规模实测对标，误差回灌代价模型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88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双保真：</a:t>
            </a: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分布保真 + 效用保真（结论一致）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9162288" y="3246120"/>
            <a:ext cx="219456" cy="38404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45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18320" y="1143000"/>
            <a:ext cx="2441448" cy="25603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1" i="0">
                <a:solidFill>
                  <a:srgbClr val="123E6E"/>
                </a:solidFill>
                <a:latin typeface="微软雅黑"/>
                <a:ea typeface="微软雅黑"/>
                <a:cs typeface="微软雅黑"/>
              </a:rPr>
              <a:t>底层仿真内核</a:t>
            </a:r>
            <a:r>
              <a:rPr sz="900" b="1" i="0">
                <a:solidFill>
                  <a:srgbClr val="3D862C"/>
                </a:solidFill>
                <a:latin typeface="微软雅黑"/>
                <a:ea typeface="微软雅黑"/>
                <a:cs typeface="微软雅黑"/>
              </a:rPr>
              <a:t>  已具备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18320" y="1417320"/>
            <a:ext cx="777240" cy="384048"/>
          </a:xfrm>
          <a:prstGeom prst="roundRect">
            <a:avLst>
              <a:gd name="adj" fmla="val 15000"/>
            </a:avLst>
          </a:prstGeom>
          <a:solidFill>
            <a:srgbClr val="E9ECF0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1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NPU 仿真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50424" y="1417320"/>
            <a:ext cx="777240" cy="384048"/>
          </a:xfrm>
          <a:prstGeom prst="roundRect">
            <a:avLst>
              <a:gd name="adj" fmla="val 15000"/>
            </a:avLst>
          </a:prstGeom>
          <a:solidFill>
            <a:srgbClr val="E9ECF0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1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内存/存储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082528" y="1417320"/>
            <a:ext cx="777240" cy="384048"/>
          </a:xfrm>
          <a:prstGeom prst="roundRect">
            <a:avLst>
              <a:gd name="adj" fmla="val 15000"/>
            </a:avLst>
          </a:prstGeom>
          <a:solidFill>
            <a:srgbClr val="E9ECF0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1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网络仿真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1911096"/>
            <a:ext cx="2441448" cy="25603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1" i="0">
                <a:solidFill>
                  <a:srgbClr val="123E6E"/>
                </a:solidFill>
                <a:latin typeface="微软雅黑"/>
                <a:ea typeface="微软雅黑"/>
                <a:cs typeface="微软雅黑"/>
              </a:rPr>
              <a:t>设计输出（DSE）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18320" y="2185416"/>
            <a:ext cx="2441448" cy="1371600"/>
          </a:xfrm>
          <a:prstGeom prst="roundRect">
            <a:avLst>
              <a:gd name="adj" fmla="val 5000"/>
            </a:avLst>
          </a:prstGeom>
          <a:solidFill>
            <a:srgbClr val="E8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73184" y="2221992"/>
            <a:ext cx="2350008" cy="1316736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00" b="1" i="0">
                <a:solidFill>
                  <a:srgbClr val="3D862C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超节点规模与组网拓扑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00" b="1" i="0">
                <a:solidFill>
                  <a:srgbClr val="3D862C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Scale-up/Scale-out 带宽配比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00" b="1" i="0">
                <a:solidFill>
                  <a:srgbClr val="3D862C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HBM/池化内存/存储层级容量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00" b="1" i="0">
                <a:solidFill>
                  <a:srgbClr val="3D862C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PD 配比、调度与并行策略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00" b="1" i="0">
                <a:solidFill>
                  <a:srgbClr val="3D862C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瓶颈定位与 TCO/能效评估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3666744"/>
            <a:ext cx="2441448" cy="25603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1" i="0">
                <a:solidFill>
                  <a:srgbClr val="123E6E"/>
                </a:solidFill>
                <a:latin typeface="微软雅黑"/>
                <a:ea typeface="微软雅黑"/>
                <a:cs typeface="微软雅黑"/>
              </a:rPr>
              <a:t>业界对标与切入点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18320" y="3941064"/>
            <a:ext cx="2441448" cy="1929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73184" y="3968496"/>
            <a:ext cx="2350008" cy="188366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 i="0">
                <a:solidFill>
                  <a:srgbClr val="1A5FA8"/>
                </a:solidFill>
                <a:latin typeface="微软雅黑"/>
                <a:ea typeface="微软雅黑"/>
                <a:cs typeface="微软雅黑"/>
              </a:rPr>
              <a:t>ASTRA-sim 2.0+Chakra</a:t>
            </a:r>
            <a:r>
              <a:rPr sz="8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：图式执行 Trace IR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 i="0">
                <a:solidFill>
                  <a:srgbClr val="1A5FA8"/>
                </a:solidFill>
                <a:latin typeface="微软雅黑"/>
                <a:ea typeface="微软雅黑"/>
                <a:cs typeface="微软雅黑"/>
              </a:rPr>
              <a:t>SimAI+AICB</a:t>
            </a:r>
            <a:r>
              <a:rPr sz="8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（阿里）：训练通信负载生成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 i="0">
                <a:solidFill>
                  <a:srgbClr val="1A5FA8"/>
                </a:solidFill>
                <a:latin typeface="微软雅黑"/>
                <a:ea typeface="微软雅黑"/>
                <a:cs typeface="微软雅黑"/>
              </a:rPr>
              <a:t>Vidur</a:t>
            </a:r>
            <a:r>
              <a:rPr sz="8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（微软）：算子画像+请求分布驱动推理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 i="0">
                <a:solidFill>
                  <a:srgbClr val="1A5FA8"/>
                </a:solidFill>
                <a:latin typeface="微软雅黑"/>
                <a:ea typeface="微软雅黑"/>
                <a:cs typeface="微软雅黑"/>
              </a:rPr>
              <a:t>NVIDIA DSX</a:t>
            </a:r>
            <a:r>
              <a:rPr sz="8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：AI 工厂数字孪生蓝图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短板：</a:t>
            </a:r>
            <a:r>
              <a:rPr sz="8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负载多为回放或简单分布，缺少面向未来模型与超大规模的可外推负载工程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9184" y="5943600"/>
            <a:ext cx="11530584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9184" y="5943600"/>
            <a:ext cx="1188720" cy="621792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9184" y="5943600"/>
            <a:ext cx="1188720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立项目标</a:t>
            </a:r>
          </a:p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建议值，待对齐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91056" y="5943600"/>
            <a:ext cx="1207008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≤10%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79776" y="5943600"/>
            <a:ext cx="1341882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迭代时间/吞吐仿真误差（千卡实测对标）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39946" y="6053328"/>
            <a:ext cx="10972" cy="402336"/>
          </a:xfrm>
          <a:prstGeom prst="rect">
            <a:avLst/>
          </a:prstGeom>
          <a:solidFill>
            <a:srgbClr val="D0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58234" y="5943600"/>
            <a:ext cx="1207008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1K→100K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46954" y="5943600"/>
            <a:ext cx="1341882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千卡 Trace 外推生成十万卡负载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07124" y="6053328"/>
            <a:ext cx="10972" cy="402336"/>
          </a:xfrm>
          <a:prstGeom prst="rect">
            <a:avLst/>
          </a:prstGeom>
          <a:solidFill>
            <a:srgbClr val="D0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25412" y="5943600"/>
            <a:ext cx="1207008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6类·30+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14132" y="5943600"/>
            <a:ext cx="1341882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场景类别 · 版本化标准负载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74302" y="6053328"/>
            <a:ext cx="10972" cy="402336"/>
          </a:xfrm>
          <a:prstGeom prst="rect">
            <a:avLst/>
          </a:prstGeom>
          <a:solidFill>
            <a:srgbClr val="D0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92590" y="5943600"/>
            <a:ext cx="1207008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≥1000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81310" y="5943600"/>
            <a:ext cx="1341882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配置/轮批量 DSE；解析级分钟、包级小时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9184" y="6638544"/>
            <a:ext cx="1005840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设计态 AI 集群仿真器  ·  负载引擎立项  ·  内部讨论稿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Bef>
                <a:spcPts val="0"/>
              </a:spcBef>
              <a:spcAft>
                <a:spcPts val="250"/>
              </a:spcAft>
            </a:pPr>
            <a:r>
              <a:rPr sz="8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01  / 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118872"/>
            <a:ext cx="11521440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50" b="1" i="0">
                <a:solidFill>
                  <a:srgbClr val="1A5FA8"/>
                </a:solidFill>
                <a:latin typeface="微软雅黑"/>
                <a:ea typeface="微软雅黑"/>
                <a:cs typeface="微软雅黑"/>
              </a:rPr>
              <a:t>备份页  ·  核心技术展开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1521440" cy="42062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21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负载引擎六项核心技术：关键问题、技术路线、业界参考与难点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749808"/>
            <a:ext cx="11521440" cy="29260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按「单作业结构 → 多作业时间叠加 → 真实数据拟合 → 流水线资产化 → 导入仿真 → 闭环校准」组织。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9184" y="1143000"/>
          <a:ext cx="11530584" cy="5047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286000"/>
                <a:gridCol w="3703320"/>
                <a:gridCol w="2011680"/>
                <a:gridCol w="1975104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核心技术</a:t>
                      </a:r>
                    </a:p>
                  </a:txBody>
                  <a:tcPr marL="54864" marR="54864" marT="27432" marB="27432" anchor="ctr">
                    <a:solidFill>
                      <a:srgbClr val="1F3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要回答的关键问题</a:t>
                      </a:r>
                    </a:p>
                  </a:txBody>
                  <a:tcPr marL="54864" marR="54864" marT="27432" marB="27432" anchor="ctr">
                    <a:solidFill>
                      <a:srgbClr val="1F3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技术路线</a:t>
                      </a:r>
                    </a:p>
                  </a:txBody>
                  <a:tcPr marL="54864" marR="54864" marT="27432" marB="27432" anchor="ctr">
                    <a:solidFill>
                      <a:srgbClr val="1F3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业界参考</a:t>
                      </a:r>
                    </a:p>
                  </a:txBody>
                  <a:tcPr marL="54864" marR="54864" marT="27432" marB="27432" anchor="ctr">
                    <a:solidFill>
                      <a:srgbClr val="1F3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难点 / 风险</a:t>
                      </a:r>
                    </a:p>
                  </a:txBody>
                  <a:tcPr marL="54864" marR="54864" marT="27432" marB="27432" anchor="ctr">
                    <a:solidFill>
                      <a:srgbClr val="1F3A5C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45A1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模型画像</a:t>
                      </a:r>
                    </a:p>
                  </a:txBody>
                  <a:tcPr marL="54864" marR="54864" marT="27432" marB="27432" anchor="ctr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一个作业在给定并行策略下，每个 rank 何时算什么、传多少、访存多少？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计算图抽取（框架图 dump/ET）→ 并行策略符号化展开 → 算子代价模型（Roofline+实测表+回归）→ MoE 路由/KV 动态注入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Chakra ET、Calculon、Vidur 算子 Profiling、Lumos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未见 shape 与新算子的代价外推；MoE 路由偏斜的刻画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45A1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到达与请求分布</a:t>
                      </a:r>
                    </a:p>
                  </a:txBody>
                  <a:tcPr marL="54864" marR="54864" marT="27432" marB="27432" anchor="ctr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多请求/多作业在时间上如何叠加？突发、周期、长尾如何刻画？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MMPP/Hawkes 刻画突发；输入/输出长度 Copula 联合建模；会话/前缀复用建模；训练作业规模幂律与故障模型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Azure LLM Trace、BurstGPT、Mooncake Trace、ServeGen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生产数据可得性；Agent/RL 等新形态负载缺少历史样本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45A1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Trace 拟合与外推</a:t>
                      </a:r>
                    </a:p>
                  </a:txBody>
                  <a:tcPr marL="54864" marR="54864" marT="27432" marB="27432" anchor="ctr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如何把小规模、旧硬件上的真实 Trace 变成大规模、新硬件的负载？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多源对齐与依赖重建 → 迭代去重压缩 → 分布拟合 + 检验 → rank 对称扩展、跨硬件重定向、模型 what-if 改写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Chakra trace link/converter、SimAI、Echo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外推非线性（拥塞、尾延迟）；跨硬件重定向时依赖关系变化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45A1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④ 负载数据工厂</a:t>
                      </a:r>
                    </a:p>
                  </a:txBody>
                  <a:tcPr marL="54864" marR="54864" marT="27432" marB="27432" anchor="ctr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如何让负载可复用、可追溯、可批量产出？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采集→清洗脱敏→特征化→建模→合成→校验→入库流水线；参数化生成器 + 生成式合成；负载版本与血缘管理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Mystique（Meta）、MLPerf 负载集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脱敏后的保真度；生成式模型的可解释性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45A1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⑤ 统一负载 IR 与导入</a:t>
                      </a:r>
                    </a:p>
                  </a:txBody>
                  <a:tcPr marL="54864" marR="54864" marT="27432" marB="27432" anchor="ctr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同一份负载如何以不同保真度驱动 NPU/内存/网络内核？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硬件无关执行图 IR（兼容 Chakra ET）；L0/L1/L2 多保真切换；集合通信分解为流；代表迭代采样加速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ASTRA-sim 2.0、SimAI（ns-3 后端）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多内核协同的时间同步；万卡级图规模与仿真速度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45A1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⑥ 闭环校准</a:t>
                      </a:r>
                    </a:p>
                  </a:txBody>
                  <a:tcPr marL="54864" marR="54864" marT="27432" marB="27432" anchor="ctr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仿真结论有多可信？误差来自哪里？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小规模实测对标 → 分层误差归因（算子/通信/调度）→ 系数回灌；分布保真 + 效用保真双指标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ASTRA-sim/SimAI 实测验证方法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大规模实测资源有限；误差随规模放大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638544"/>
            <a:ext cx="1005840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参考：ASTRA-sim 2.0/Chakra、SimAI（NSDI'25）、Vidur（MLSys'24）、NVIDIA Omniverse DSX、Mystique（ISCA'23）、ServeGen、BurstGPT、Mooncake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Bef>
                <a:spcPts val="0"/>
              </a:spcBef>
              <a:spcAft>
                <a:spcPts val="250"/>
              </a:spcAft>
            </a:pPr>
            <a:r>
              <a:rPr sz="8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02  / 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