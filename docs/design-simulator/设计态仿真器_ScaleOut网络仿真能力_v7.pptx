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v7：相对 v6——右关键技术每条改为「方法名词：统一/刻画…，解耦/叠加…，支持…」三段式具体技术点；卡片「关键技术 N」与标题并为一行。左图、横幅、标题与第 2 页同 v6。</a:t>
            </a:r>
          </a:p>
          <a:p>
            <a:r>
              <a:t>关键技术 1：基于拓扑意图图的多路径交叉验证</a:t>
            </a:r>
          </a:p>
          <a:p>
            <a:r>
              <a:t>关键技术 2：基于双栈行为模型的协议路径对照</a:t>
            </a:r>
          </a:p>
          <a:p>
            <a:r>
              <a:t>关键技术 3：基于 CX model 的端/网侧模组级仿真</a:t>
            </a:r>
          </a:p>
          <a:p>
            <a:r>
              <a:t>配色：左图描边 #5a5a5e；拓扑带 #eef2f6 / 协议带 #f7f0f1 / 模组带 #eef5f0；右关键技术卡片描边仍为 #e7e7e7。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v7 第 2 页（同 v6）：技术点说明备用页。覆盖左图全部 24 个核心末级名词，以及输入/输出各 4 项。不进正式立项稿。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53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109728"/>
            <a:ext cx="11521440" cy="219456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设计态 AI 集群仿真器  ·  ScaleOut 网络仿真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329184"/>
            <a:ext cx="11612880" cy="347472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以拓扑、协议、模组三层仿真支撑十万～五十万卡 ScaleOut 网络设计决策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1168" y="713232"/>
            <a:ext cx="11777472" cy="98755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9184" y="804672"/>
            <a:ext cx="64008" cy="146304"/>
          </a:xfrm>
          <a:prstGeom prst="rect">
            <a:avLst/>
          </a:prstGeom>
          <a:solidFill>
            <a:srgbClr val="B53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713232"/>
            <a:ext cx="1115568" cy="329184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面向场景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27632" y="713232"/>
            <a:ext cx="10149840" cy="329184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面向 10T～50T+ 大模型、约 50 万卡量级集群，在设计态仿真 ScaleOut 网络方案与网卡行为，对照吞吐、延迟与瓶颈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" y="1133856"/>
            <a:ext cx="64008" cy="146304"/>
          </a:xfrm>
          <a:prstGeom prst="rect">
            <a:avLst/>
          </a:prstGeom>
          <a:solidFill>
            <a:srgbClr val="B53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042416"/>
            <a:ext cx="1115568" cy="329184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竞争力目标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27632" y="1042416"/>
            <a:ext cx="10149840" cy="329184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对照 RoCE 与 UBoE 等协议路径，并以 CX model 刻画网卡模组级行为，给出可量化的方案取舍依据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" y="1463040"/>
            <a:ext cx="64008" cy="146304"/>
          </a:xfrm>
          <a:prstGeom prst="rect">
            <a:avLst/>
          </a:prstGeom>
          <a:solidFill>
            <a:srgbClr val="B53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1371600"/>
            <a:ext cx="1115568" cy="329184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技术挑战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27632" y="1371600"/>
            <a:ext cx="10149840" cy="329184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超大规模拓扑与路由保真、集合通信与流量跨 ScaleOut 可复现、端侧网卡与网侧交换机行为可插拔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1719072"/>
            <a:ext cx="1463040" cy="146304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566472"/>
                </a:solidFill>
                <a:latin typeface="微软雅黑"/>
                <a:ea typeface="微软雅黑"/>
                <a:cs typeface="微软雅黑"/>
              </a:rPr>
              <a:t>能力结构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09928" y="1719072"/>
            <a:ext cx="4288536" cy="146304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r">
              <a:spcAft>
                <a:spcPts val="200"/>
              </a:spcAft>
            </a:pPr>
            <a:r>
              <a:rPr sz="85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四类输入同时抽出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1883664"/>
            <a:ext cx="621792" cy="329184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566472"/>
                </a:solidFill>
                <a:latin typeface="微软雅黑"/>
                <a:ea typeface="微软雅黑"/>
                <a:cs typeface="微软雅黑"/>
              </a:rPr>
              <a:t>待验</a:t>
            </a:r>
          </a:p>
          <a:p>
            <a:pPr algn="ctr">
              <a:spcAft>
                <a:spcPts val="200"/>
              </a:spcAft>
            </a:pPr>
            <a:r>
              <a:rPr sz="900" b="1">
                <a:solidFill>
                  <a:srgbClr val="566472"/>
                </a:solidFill>
                <a:latin typeface="微软雅黑"/>
                <a:ea typeface="微软雅黑"/>
                <a:cs typeface="微软雅黑"/>
              </a:rPr>
              <a:t>证项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1901952"/>
            <a:ext cx="996695" cy="292608"/>
          </a:xfrm>
          <a:prstGeom prst="roundRect">
            <a:avLst>
              <a:gd name="adj" fmla="val 12000"/>
            </a:avLst>
          </a:prstGeom>
          <a:solidFill>
            <a:srgbClr val="F5F5F6"/>
          </a:solidFill>
          <a:ln w="10795">
            <a:solidFill>
              <a:srgbClr val="5A5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ScaleOut</a:t>
            </a:r>
          </a:p>
          <a:p>
            <a:pPr algn="ctr">
              <a:spcAft>
                <a:spcPts val="0"/>
              </a:spcAft>
            </a:pPr>
            <a:r>
              <a:rPr sz="8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带宽设计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901952" y="1901952"/>
            <a:ext cx="996695" cy="292608"/>
          </a:xfrm>
          <a:prstGeom prst="roundRect">
            <a:avLst>
              <a:gd name="adj" fmla="val 12000"/>
            </a:avLst>
          </a:prstGeom>
          <a:solidFill>
            <a:srgbClr val="F5F5F6"/>
          </a:solidFill>
          <a:ln w="10795">
            <a:solidFill>
              <a:srgbClr val="5A5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8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收敛比分析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935224" y="1901952"/>
            <a:ext cx="996695" cy="292608"/>
          </a:xfrm>
          <a:prstGeom prst="roundRect">
            <a:avLst>
              <a:gd name="adj" fmla="val 12000"/>
            </a:avLst>
          </a:prstGeom>
          <a:solidFill>
            <a:srgbClr val="F5F5F6"/>
          </a:solidFill>
          <a:ln w="10795">
            <a:solidFill>
              <a:srgbClr val="5A5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拥塞/丢包</a:t>
            </a:r>
          </a:p>
          <a:p>
            <a:pPr algn="ctr">
              <a:spcAft>
                <a:spcPts val="0"/>
              </a:spcAft>
            </a:pPr>
            <a:r>
              <a:rPr sz="8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性能测算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968496" y="1901952"/>
            <a:ext cx="996695" cy="292608"/>
          </a:xfrm>
          <a:prstGeom prst="roundRect">
            <a:avLst>
              <a:gd name="adj" fmla="val 12000"/>
            </a:avLst>
          </a:prstGeom>
          <a:solidFill>
            <a:srgbClr val="F5F5F6"/>
          </a:solidFill>
          <a:ln w="10795">
            <a:solidFill>
              <a:srgbClr val="5A5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协议路径</a:t>
            </a:r>
          </a:p>
          <a:p>
            <a:pPr algn="ctr">
              <a:spcAft>
                <a:spcPts val="0"/>
              </a:spcAft>
            </a:pPr>
            <a:r>
              <a:rPr sz="8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吞吐对照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01768" y="1901952"/>
            <a:ext cx="996695" cy="292608"/>
          </a:xfrm>
          <a:prstGeom prst="roundRect">
            <a:avLst>
              <a:gd name="adj" fmla="val 12000"/>
            </a:avLst>
          </a:prstGeom>
          <a:solidFill>
            <a:srgbClr val="F5F5F6"/>
          </a:solidFill>
          <a:ln w="10795">
            <a:solidFill>
              <a:srgbClr val="5A5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8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故障重构影响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1168" y="2267712"/>
            <a:ext cx="621792" cy="274320"/>
          </a:xfrm>
          <a:prstGeom prst="rect">
            <a:avLst/>
          </a:prstGeom>
          <a:solidFill>
            <a:srgbClr val="566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01168" y="2267712"/>
            <a:ext cx="621792" cy="274320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输入层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8680" y="2267712"/>
            <a:ext cx="1255013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5A5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9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集群拓扑意图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160270" y="2267712"/>
            <a:ext cx="1255013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5A5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9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并行与通信模式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51860" y="2267712"/>
            <a:ext cx="1255013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5A5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9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协议与拥塞策略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43450" y="2267712"/>
            <a:ext cx="1255013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5A5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9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网卡与模组参数</a:t>
            </a:r>
          </a:p>
        </p:txBody>
      </p:sp>
      <p:sp>
        <p:nvSpPr>
          <p:cNvPr id="31" name="Down Arrow 30"/>
          <p:cNvSpPr/>
          <p:nvPr/>
        </p:nvSpPr>
        <p:spPr>
          <a:xfrm>
            <a:off x="3342132" y="2545689"/>
            <a:ext cx="182880" cy="73152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C8C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01168" y="2624327"/>
            <a:ext cx="621792" cy="3529584"/>
          </a:xfrm>
          <a:prstGeom prst="rect">
            <a:avLst/>
          </a:prstGeom>
          <a:solidFill>
            <a:srgbClr val="B53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01168" y="2624327"/>
            <a:ext cx="621792" cy="3529584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仿真</a:t>
            </a:r>
          </a:p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技术</a:t>
            </a:r>
          </a:p>
          <a:p>
            <a:pPr algn="ctr">
              <a:spcAft>
                <a:spcPts val="200"/>
              </a:spcAft>
            </a:pPr>
            <a:r>
              <a:rPr sz="8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本页核心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68680" y="2624327"/>
            <a:ext cx="5129783" cy="3529584"/>
          </a:xfrm>
          <a:prstGeom prst="roundRect">
            <a:avLst>
              <a:gd name="adj" fmla="val 3000"/>
            </a:avLst>
          </a:prstGeom>
          <a:solidFill>
            <a:srgbClr val="FDF0F1"/>
          </a:solidFill>
          <a:ln w="12700">
            <a:solidFill>
              <a:srgbClr val="E0A3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3544" y="2651759"/>
            <a:ext cx="5020055" cy="146304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自上而下三层；协议层双栈可对照，模组层基于 CX model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23544" y="2807207"/>
            <a:ext cx="5020055" cy="1078992"/>
          </a:xfrm>
          <a:prstGeom prst="roundRect">
            <a:avLst>
              <a:gd name="adj" fmla="val 6000"/>
            </a:avLst>
          </a:prstGeom>
          <a:solidFill>
            <a:srgbClr val="EEF2F6"/>
          </a:solidFill>
          <a:ln w="12700">
            <a:solidFill>
              <a:srgbClr val="5A5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0120" y="2825495"/>
            <a:ext cx="4946903" cy="164592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① 基于拓扑意图图的多路径路由仿真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60120" y="2994659"/>
            <a:ext cx="1209293" cy="4160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5A5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CLOS/Dragonfly</a:t>
            </a:r>
          </a:p>
          <a:p>
            <a:pPr algn="ctr">
              <a:spcAft>
                <a:spcPts val="0"/>
              </a:spcAft>
            </a:pPr>
            <a:r>
              <a:rPr sz="8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意图建模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205989" y="2994659"/>
            <a:ext cx="1209293" cy="4160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5A5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ECMP 哈希</a:t>
            </a:r>
          </a:p>
          <a:p>
            <a:pPr algn="ctr">
              <a:spcAft>
                <a:spcPts val="0"/>
              </a:spcAft>
            </a:pPr>
            <a:r>
              <a:rPr sz="8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多路径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451859" y="2994659"/>
            <a:ext cx="1209293" cy="4160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5A5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故障域</a:t>
            </a:r>
          </a:p>
          <a:p>
            <a:pPr algn="ctr">
              <a:spcAft>
                <a:spcPts val="0"/>
              </a:spcAft>
            </a:pPr>
            <a:r>
              <a:rPr sz="8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重构推演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697729" y="2994659"/>
            <a:ext cx="1209293" cy="4160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5A5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跨域收敛比</a:t>
            </a:r>
          </a:p>
          <a:p>
            <a:pPr algn="ctr">
              <a:spcAft>
                <a:spcPts val="0"/>
              </a:spcAft>
            </a:pPr>
            <a:r>
              <a:rPr sz="8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测算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60120" y="3442715"/>
            <a:ext cx="1209293" cy="4160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5A5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路由表</a:t>
            </a:r>
          </a:p>
          <a:p>
            <a:pPr algn="ctr">
              <a:spcAft>
                <a:spcPts val="0"/>
              </a:spcAft>
            </a:pPr>
            <a:r>
              <a:rPr sz="8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规模外推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205989" y="3442715"/>
            <a:ext cx="1209293" cy="4160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5A5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多路径</a:t>
            </a:r>
          </a:p>
          <a:p>
            <a:pPr algn="ctr">
              <a:spcAft>
                <a:spcPts val="0"/>
              </a:spcAft>
            </a:pPr>
            <a:r>
              <a:rPr sz="8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负载均衡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451859" y="3442715"/>
            <a:ext cx="1209293" cy="4160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5A5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断链重路由</a:t>
            </a:r>
          </a:p>
          <a:p>
            <a:pPr algn="ctr">
              <a:spcAft>
                <a:spcPts val="0"/>
              </a:spcAft>
            </a:pPr>
            <a:r>
              <a:rPr sz="8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时延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697729" y="3442715"/>
            <a:ext cx="1209293" cy="4160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5A5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Pod/Spine</a:t>
            </a:r>
          </a:p>
          <a:p>
            <a:pPr algn="ctr">
              <a:spcAft>
                <a:spcPts val="0"/>
              </a:spcAft>
            </a:pPr>
            <a:r>
              <a:rPr sz="8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分层映射</a:t>
            </a:r>
          </a:p>
        </p:txBody>
      </p:sp>
      <p:sp>
        <p:nvSpPr>
          <p:cNvPr id="46" name="Down Arrow 45"/>
          <p:cNvSpPr/>
          <p:nvPr/>
        </p:nvSpPr>
        <p:spPr>
          <a:xfrm>
            <a:off x="3342132" y="3887114"/>
            <a:ext cx="182880" cy="33832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C8C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923544" y="3927348"/>
            <a:ext cx="5020055" cy="1078992"/>
          </a:xfrm>
          <a:prstGeom prst="roundRect">
            <a:avLst>
              <a:gd name="adj" fmla="val 6000"/>
            </a:avLst>
          </a:prstGeom>
          <a:solidFill>
            <a:srgbClr val="F7F0F1"/>
          </a:solidFill>
          <a:ln w="12700">
            <a:solidFill>
              <a:srgbClr val="5A5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120" y="3945635"/>
            <a:ext cx="4946903" cy="164592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② 基于双栈行为模型的流量仿真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60120" y="4114799"/>
            <a:ext cx="1209293" cy="4160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5A5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RoCE 拥塞</a:t>
            </a:r>
          </a:p>
          <a:p>
            <a:pPr algn="ctr">
              <a:spcAft>
                <a:spcPts val="0"/>
              </a:spcAft>
            </a:pPr>
            <a:r>
              <a:rPr sz="8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控制模型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205989" y="4114799"/>
            <a:ext cx="1209293" cy="4160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5A5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UBoE 转发</a:t>
            </a:r>
          </a:p>
          <a:p>
            <a:pPr algn="ctr">
              <a:spcAft>
                <a:spcPts val="0"/>
              </a:spcAft>
            </a:pPr>
            <a:r>
              <a:rPr sz="8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路径模型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451859" y="4114799"/>
            <a:ext cx="1209293" cy="4160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5A5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集合通信</a:t>
            </a:r>
          </a:p>
          <a:p>
            <a:pPr algn="ctr">
              <a:spcAft>
                <a:spcPts val="0"/>
              </a:spcAft>
            </a:pPr>
            <a:r>
              <a:rPr sz="8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轨迹重放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697729" y="4114799"/>
            <a:ext cx="1209293" cy="4160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5A5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PFC/ECN</a:t>
            </a:r>
          </a:p>
          <a:p>
            <a:pPr algn="ctr">
              <a:spcAft>
                <a:spcPts val="0"/>
              </a:spcAft>
            </a:pPr>
            <a:r>
              <a:rPr sz="8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策略对照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60120" y="4562855"/>
            <a:ext cx="1209293" cy="4160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5A5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队列深度</a:t>
            </a:r>
          </a:p>
          <a:p>
            <a:pPr algn="ctr">
              <a:spcAft>
                <a:spcPts val="0"/>
              </a:spcAft>
            </a:pPr>
            <a:r>
              <a:rPr sz="8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水位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205989" y="4562855"/>
            <a:ext cx="1209293" cy="4160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5A5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重传与乱序</a:t>
            </a:r>
          </a:p>
          <a:p>
            <a:pPr algn="ctr">
              <a:spcAft>
                <a:spcPts val="0"/>
              </a:spcAft>
            </a:pPr>
            <a:r>
              <a:rPr sz="8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模型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451859" y="4562855"/>
            <a:ext cx="1209293" cy="4160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5A5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AllReduce/</a:t>
            </a:r>
          </a:p>
          <a:p>
            <a:pPr algn="ctr">
              <a:spcAft>
                <a:spcPts val="0"/>
              </a:spcAft>
            </a:pPr>
            <a:r>
              <a:rPr sz="8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AlltoAll 模式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697729" y="4562855"/>
            <a:ext cx="1209293" cy="4160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5A5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跨 ScaleOut</a:t>
            </a:r>
          </a:p>
          <a:p>
            <a:pPr algn="ctr">
              <a:spcAft>
                <a:spcPts val="0"/>
              </a:spcAft>
            </a:pPr>
            <a:r>
              <a:rPr sz="8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流量注入</a:t>
            </a:r>
          </a:p>
        </p:txBody>
      </p:sp>
      <p:sp>
        <p:nvSpPr>
          <p:cNvPr id="57" name="Down Arrow 56"/>
          <p:cNvSpPr/>
          <p:nvPr/>
        </p:nvSpPr>
        <p:spPr>
          <a:xfrm>
            <a:off x="3342132" y="5007254"/>
            <a:ext cx="182880" cy="33832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C8C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923544" y="5047488"/>
            <a:ext cx="5020055" cy="1078992"/>
          </a:xfrm>
          <a:prstGeom prst="roundRect">
            <a:avLst>
              <a:gd name="adj" fmla="val 6000"/>
            </a:avLst>
          </a:prstGeom>
          <a:solidFill>
            <a:srgbClr val="EEF5F0"/>
          </a:solidFill>
          <a:ln w="12700">
            <a:solidFill>
              <a:srgbClr val="5A5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60120" y="5065775"/>
            <a:ext cx="4946903" cy="164592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③ 基于 CX model 的端网模组仿真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60120" y="5234939"/>
            <a:ext cx="1209293" cy="4160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5A5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CX 端侧</a:t>
            </a:r>
          </a:p>
          <a:p>
            <a:pPr algn="ctr">
              <a:spcAft>
                <a:spcPts val="0"/>
              </a:spcAft>
            </a:pPr>
            <a:r>
              <a:rPr sz="8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延迟链模型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2205989" y="5234939"/>
            <a:ext cx="1209293" cy="4160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5A5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182X DMA</a:t>
            </a:r>
          </a:p>
          <a:p>
            <a:pPr algn="ctr">
              <a:spcAft>
                <a:spcPts val="0"/>
              </a:spcAft>
            </a:pPr>
            <a:r>
              <a:rPr sz="8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/门铃映射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451859" y="5234939"/>
            <a:ext cx="1209293" cy="4160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5A5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交换机队列</a:t>
            </a:r>
          </a:p>
          <a:p>
            <a:pPr algn="ctr">
              <a:spcAft>
                <a:spcPts val="0"/>
              </a:spcAft>
            </a:pPr>
            <a:r>
              <a:rPr sz="8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调度模型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697729" y="5234939"/>
            <a:ext cx="1209293" cy="4160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5A5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端网模组</a:t>
            </a:r>
          </a:p>
          <a:p>
            <a:pPr algn="ctr">
              <a:spcAft>
                <a:spcPts val="0"/>
              </a:spcAft>
            </a:pPr>
            <a:r>
              <a:rPr sz="8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插拔接口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960120" y="5682995"/>
            <a:ext cx="1209293" cy="4160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5A5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CX offload</a:t>
            </a:r>
          </a:p>
          <a:p>
            <a:pPr algn="ctr">
              <a:spcAft>
                <a:spcPts val="0"/>
              </a:spcAft>
            </a:pPr>
            <a:r>
              <a:rPr sz="8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路径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2205989" y="5682995"/>
            <a:ext cx="1209293" cy="4160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5A5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主机侧/</a:t>
            </a:r>
          </a:p>
          <a:p>
            <a:pPr algn="ctr">
              <a:spcAft>
                <a:spcPts val="0"/>
              </a:spcAft>
            </a:pPr>
            <a:r>
              <a:rPr sz="8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PCIe 延迟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3451859" y="5682995"/>
            <a:ext cx="1209293" cy="4160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5A5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交换机缓冲</a:t>
            </a:r>
          </a:p>
          <a:p>
            <a:pPr algn="ctr">
              <a:spcAft>
                <a:spcPts val="0"/>
              </a:spcAft>
            </a:pPr>
            <a:r>
              <a:rPr sz="8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与 VOQ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697729" y="5682995"/>
            <a:ext cx="1209293" cy="4160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5A5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模组参数</a:t>
            </a:r>
          </a:p>
          <a:p>
            <a:pPr algn="ctr">
              <a:spcAft>
                <a:spcPts val="0"/>
              </a:spcAft>
            </a:pPr>
            <a:r>
              <a:rPr sz="8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标定接口</a:t>
            </a:r>
          </a:p>
        </p:txBody>
      </p:sp>
      <p:sp>
        <p:nvSpPr>
          <p:cNvPr id="68" name="Down Arrow 67"/>
          <p:cNvSpPr/>
          <p:nvPr/>
        </p:nvSpPr>
        <p:spPr>
          <a:xfrm>
            <a:off x="3342132" y="6157569"/>
            <a:ext cx="182880" cy="73152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C8C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68680" y="6163055"/>
            <a:ext cx="3693444" cy="64007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从执行结果分出四类对照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01168" y="6236207"/>
            <a:ext cx="621792" cy="292608"/>
          </a:xfrm>
          <a:prstGeom prst="rect">
            <a:avLst/>
          </a:prstGeom>
          <a:solidFill>
            <a:srgbClr val="566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01168" y="6236207"/>
            <a:ext cx="621792" cy="292608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输出层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868680" y="6236207"/>
            <a:ext cx="1255013" cy="2926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5A5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8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带宽延迟对照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2160270" y="6236207"/>
            <a:ext cx="1255013" cy="2926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5A5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8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集合通信效率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3451860" y="6236207"/>
            <a:ext cx="1255013" cy="2926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5A5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85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瓶颈定位图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4743450" y="6236207"/>
            <a:ext cx="1255013" cy="2926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5A5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RoCE/UBoE/</a:t>
            </a:r>
          </a:p>
          <a:p>
            <a:pPr algn="ctr">
              <a:spcAft>
                <a:spcPts val="0"/>
              </a:spcAft>
            </a:pPr>
            <a:r>
              <a:rPr sz="800" b="0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网卡方案对比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144768" y="1719072"/>
            <a:ext cx="5815584" cy="146304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关键技术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6144768" y="1901952"/>
            <a:ext cx="5815584" cy="1499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144768" y="1975104"/>
            <a:ext cx="64008" cy="1353312"/>
          </a:xfrm>
          <a:prstGeom prst="rect">
            <a:avLst/>
          </a:prstGeom>
          <a:solidFill>
            <a:srgbClr val="B53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309359" y="1956816"/>
            <a:ext cx="5541264" cy="237744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关键技术 1  </a:t>
            </a:r>
            <a:r>
              <a:rPr sz="130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基于拓扑意图图的多路径交叉验证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309359" y="2249424"/>
            <a:ext cx="5522976" cy="548640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1）意图驱动拓扑生成：</a:t>
            </a:r>
            <a:r>
              <a:rPr sz="100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统一集群规模、收敛比与分层约束的意图描述，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      自动展开 CLOS/Dragonfly 拓扑及 Pod/Spine 端口映射，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      支持十万～五十万卡拓扑按参数生成与路由表规模外推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309359" y="2798064"/>
            <a:ext cx="5522976" cy="548640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2）故障感知多路径路由：</a:t>
            </a:r>
            <a:r>
              <a:rPr sz="100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统一 ECMP 哈希、负载均衡与故障域重构的路由语义，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      在同一通信负载下推演断链重路由与收敛时延，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      支持不同拓扑与路由方案的瓶颈位置交叉比较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6144768" y="3465576"/>
            <a:ext cx="5815584" cy="1499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144768" y="3538728"/>
            <a:ext cx="64008" cy="1353312"/>
          </a:xfrm>
          <a:prstGeom prst="rect">
            <a:avLst/>
          </a:prstGeom>
          <a:solidFill>
            <a:srgbClr val="B53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59" y="3520440"/>
            <a:ext cx="5541264" cy="237744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关键技术 2  </a:t>
            </a:r>
            <a:r>
              <a:rPr sz="130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基于双栈行为模型的协议路径对照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309359" y="3813048"/>
            <a:ext cx="5522976" cy="548640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1）双栈协议行为抽象：</a:t>
            </a:r>
            <a:r>
              <a:rPr sz="100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统一 RoCE 与 UBoE 的报文路径、队列与拥塞反馈语义，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      解耦协议行为与拓扑配置，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      支持同一流量意图下双栈吞吐、时延一致比较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309359" y="4361688"/>
            <a:ext cx="5522976" cy="548640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2）事件序流量重放：</a:t>
            </a:r>
            <a:r>
              <a:rPr sz="100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将 AllReduce/AlltoAll 按依赖展开为通信事件序列，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      叠加 PFC/ECN 策略与重传、乱序模型，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      支持跨 ScaleOut 流量的拥塞起点与丢包窗口定位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6144768" y="5029200"/>
            <a:ext cx="5815584" cy="1499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E7E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6144768" y="5102352"/>
            <a:ext cx="64008" cy="1353312"/>
          </a:xfrm>
          <a:prstGeom prst="rect">
            <a:avLst/>
          </a:prstGeom>
          <a:solidFill>
            <a:srgbClr val="B53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309359" y="5084064"/>
            <a:ext cx="5541264" cy="237744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关键技术 3  </a:t>
            </a:r>
            <a:r>
              <a:rPr sz="130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基于 CX model 的端/网侧模组级仿真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309359" y="5376672"/>
            <a:ext cx="5522976" cy="548640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1）端侧延迟链建模：</a:t>
            </a:r>
            <a:r>
              <a:rPr sz="100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以 CX model 串联主机/PCIe、DMA/门铃与 offload 环节，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      182X 作为参数实例映射，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      支持端到端延迟逐段分解与 offload 收益评估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309359" y="5925312"/>
            <a:ext cx="5522976" cy="548640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2）端网模组接口解耦：</a:t>
            </a:r>
            <a:r>
              <a:rPr sz="100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统一网卡与交换机的模组接口与参数标定入口，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      覆盖队列调度、缓冲/VOQ 行为，解耦设备模型与上层拓扑、协议层，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      支持更换网卡或交换机模型后同口径比较</a:t>
            </a:r>
          </a:p>
        </p:txBody>
      </p:sp>
      <p:sp>
        <p:nvSpPr>
          <p:cNvPr id="92" name="Rectangle 91"/>
          <p:cNvSpPr/>
          <p:nvPr/>
        </p:nvSpPr>
        <p:spPr>
          <a:xfrm>
            <a:off x="0" y="6638544"/>
            <a:ext cx="12191695" cy="219456"/>
          </a:xfrm>
          <a:prstGeom prst="rect">
            <a:avLst/>
          </a:prstGeom>
          <a:solidFill>
            <a:srgbClr val="E9E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0" y="6638544"/>
            <a:ext cx="146304" cy="219456"/>
          </a:xfrm>
          <a:prstGeom prst="rect">
            <a:avLst/>
          </a:prstGeom>
          <a:solidFill>
            <a:srgbClr val="1A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329184" y="6638544"/>
            <a:ext cx="10058400" cy="219456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7A8896"/>
                </a:solidFill>
                <a:latin typeface="微软雅黑"/>
                <a:ea typeface="微软雅黑"/>
                <a:cs typeface="微软雅黑"/>
              </a:rPr>
              <a:t>ScaleOut 网络仿真能力  ·  立项讨论稿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0332720" y="6638544"/>
            <a:ext cx="1554480" cy="219456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r">
              <a:spcAft>
                <a:spcPts val="200"/>
              </a:spcAft>
            </a:pPr>
            <a:r>
              <a:rPr sz="850" b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01  /  02</a:t>
            </a:r>
          </a:p>
        </p:txBody>
      </p:sp>
      <p:sp>
        <p:nvSpPr>
          <p:cNvPr id="96" name="Rectangle 95"/>
          <p:cNvSpPr/>
          <p:nvPr/>
        </p:nvSpPr>
        <p:spPr>
          <a:xfrm>
            <a:off x="0" y="6638544"/>
            <a:ext cx="146304" cy="219456"/>
          </a:xfrm>
          <a:prstGeom prst="rect">
            <a:avLst/>
          </a:prstGeom>
          <a:solidFill>
            <a:srgbClr val="B53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53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109728"/>
            <a:ext cx="11521440" cy="219456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设计态 AI 集群仿真器  ·  ScaleOut 网络仿真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329184"/>
            <a:ext cx="11612880" cy="292608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技术点说明（备用页 · 不进正式稿）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" y="621792"/>
            <a:ext cx="11612880" cy="182880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对左图每一个末级技术名词给出一句设计态仿真语境下的用途说明，便于后续技术文档引用。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868680"/>
            <a:ext cx="5724144" cy="201168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566472"/>
                </a:solidFill>
                <a:latin typeface="微软雅黑"/>
                <a:ea typeface="微软雅黑"/>
                <a:cs typeface="微软雅黑"/>
              </a:rPr>
              <a:t>输入层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" y="1088136"/>
            <a:ext cx="5724144" cy="171907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· 集群拓扑意图：</a:t>
            </a:r>
            <a:r>
              <a:rPr sz="95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描述目标集群的拓扑形态与规模意图，作为构图与路由仿真的输入。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" y="1260043"/>
            <a:ext cx="5724144" cy="171907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· 并行与通信模式：</a:t>
            </a:r>
            <a:r>
              <a:rPr sz="95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给定训练并行策略与集合通信模式，驱动流量生成与轨迹注入。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" y="1431950"/>
            <a:ext cx="5724144" cy="171907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· 协议与拥塞策略：</a:t>
            </a:r>
            <a:r>
              <a:rPr sz="95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指定 RoCE/UBoE 及 PFC/ECN 等策略配置，供双栈行为对照。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" y="1603857"/>
            <a:ext cx="5724144" cy="171907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· 网卡与模组参数：</a:t>
            </a:r>
            <a:r>
              <a:rPr sz="95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提供端侧网卡与模组级延迟/吞吐参数，驱动 CX 模组实例化。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" y="1830628"/>
            <a:ext cx="5724144" cy="201168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① 拓扑层 — 基于拓扑意图图的多路径路由仿真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" y="2050084"/>
            <a:ext cx="5724144" cy="171907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· CLOS/Dragonfly 意图建模：</a:t>
            </a:r>
            <a:r>
              <a:rPr sz="95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把集群拓扑意图展开为可扩的 CLOS 或 Dragonfly 图，供路由与收敛比仿真使用。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" y="2221992"/>
            <a:ext cx="5724144" cy="171907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· ECMP 哈希多路径：</a:t>
            </a:r>
            <a:r>
              <a:rPr sz="95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按哈希分流模拟 ECMP 多路径转发，评估路径利用率与热点分布。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" y="2393899"/>
            <a:ext cx="5724144" cy="171907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· 故障域重构推演：</a:t>
            </a:r>
            <a:r>
              <a:rPr sz="95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在指定故障域失效后重算可达与路由，量化重构对带宽与延迟的影响。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" y="2565806"/>
            <a:ext cx="5724144" cy="171907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· 跨域收敛比测算：</a:t>
            </a:r>
            <a:r>
              <a:rPr sz="95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按 Pod/域边界统计上下行带宽比，支撑 ScaleOut 带宽与过订阅设计。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" y="2737713"/>
            <a:ext cx="5724144" cy="171907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· 路由表规模外推：</a:t>
            </a:r>
            <a:r>
              <a:rPr sz="95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按拓扑规模外推路由表项与查表开销，预估控制面与数据面压力。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" y="2909620"/>
            <a:ext cx="5724144" cy="171907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· 多路径负载均衡：</a:t>
            </a:r>
            <a:r>
              <a:rPr sz="95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在多路径间分配流/报文负载，对照均衡策略对瓶颈位置的影响。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32" y="3081528"/>
            <a:ext cx="5724144" cy="171907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· 断链重路由时延：</a:t>
            </a:r>
            <a:r>
              <a:rPr sz="95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模拟链路中断后的重路由收敛过程，给出恢复时延与丢包窗口。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032" y="3253435"/>
            <a:ext cx="5724144" cy="171907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· Pod/Spine 分层映射：</a:t>
            </a:r>
            <a:r>
              <a:rPr sz="95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将逻辑意图映射到 Pod/Spine 分层设备与端口，驱动后续仿真实例化。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2" y="3480206"/>
            <a:ext cx="5724144" cy="201168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② 协议层 — 基于双栈行为模型的流量仿真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6032" y="3699662"/>
            <a:ext cx="5724144" cy="171907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· RoCE 拥塞控制模型：</a:t>
            </a:r>
            <a:r>
              <a:rPr sz="95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用行为模型刻画 RoCE 拥塞反馈与速率调整，对照吞吐与队列压力。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6032" y="3871569"/>
            <a:ext cx="5724144" cy="171907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· UBoE 转发路径模型：</a:t>
            </a:r>
            <a:r>
              <a:rPr sz="95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按 UBoE 转发语义建模报文路径与处理开销，与 RoCE 同负载对照。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6032" y="4043476"/>
            <a:ext cx="5724144" cy="171907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· 集合通信轨迹重放：</a:t>
            </a:r>
            <a:r>
              <a:rPr sz="95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按事件序重放集合通信轨迹，复现跨 ScaleOut 的通信时序。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6032" y="4215384"/>
            <a:ext cx="5724144" cy="171907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· PFC/ECN 策略对照：</a:t>
            </a:r>
            <a:r>
              <a:rPr sz="95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在同一流量下切换 PFC/ECN 策略，比较停等、标记与吞吐差异。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6032" y="4387291"/>
            <a:ext cx="5724144" cy="171907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· 队列深度水位：</a:t>
            </a:r>
            <a:r>
              <a:rPr sz="95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跟踪交换机/网卡队列占用水位，定位缓冲耗尽与拥塞起点。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6032" y="4559198"/>
            <a:ext cx="5724144" cy="171907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· 重传与乱序模型：</a:t>
            </a:r>
            <a:r>
              <a:rPr sz="95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刻画丢包重传与乱序到达对有效吞吐和完成时间的影响。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" y="4731105"/>
            <a:ext cx="5724144" cy="171907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· AllReduce/AlltoAll 模式：</a:t>
            </a:r>
            <a:r>
              <a:rPr sz="95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注入典型集合通信模式，评估模式与拓扑/协议组合下的效率。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6032" y="4903012"/>
            <a:ext cx="5724144" cy="171907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· 跨 ScaleOut 流量注入：</a:t>
            </a:r>
            <a:r>
              <a:rPr sz="95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在 ScaleOut 边界注入跨域流量，观察带宽争用与路径冲突。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36208" y="868680"/>
            <a:ext cx="5724144" cy="201168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B5333B"/>
                </a:solidFill>
                <a:latin typeface="微软雅黑"/>
                <a:ea typeface="微软雅黑"/>
                <a:cs typeface="微软雅黑"/>
              </a:rPr>
              <a:t>③ 模组层 — 基于 CX model 的端网模组仿真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36208" y="1088136"/>
            <a:ext cx="5724144" cy="171907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· CX 端侧延迟链模型：</a:t>
            </a:r>
            <a:r>
              <a:rPr sz="95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用 CX model 串联端侧处理延迟环节，给出端到端延迟分解。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36208" y="1260043"/>
            <a:ext cx="5724144" cy="171907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· 182X DMA/门铃映射：</a:t>
            </a:r>
            <a:r>
              <a:rPr sz="95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将 182X 网卡的 DMA 与门铃行为映射为 CX 模组参数实例。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36208" y="1431950"/>
            <a:ext cx="5724144" cy="171907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· 交换机队列调度模型：</a:t>
            </a:r>
            <a:r>
              <a:rPr sz="95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建模交换机队列调度与出队策略，影响转发延迟与公平性。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36208" y="1603857"/>
            <a:ext cx="5724144" cy="171907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· 端网模组插拔接口：</a:t>
            </a:r>
            <a:r>
              <a:rPr sz="95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固定端/网侧模组接口，使换网卡或交换机模型不改上层。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36208" y="1775764"/>
            <a:ext cx="5724144" cy="171907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· CX offload 路径：</a:t>
            </a:r>
            <a:r>
              <a:rPr sz="95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刻画 CX offload 旁路与主机路径的分流，评估 offload 收益。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36208" y="1947672"/>
            <a:ext cx="5724144" cy="171907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· 主机侧/PCIe 延迟：</a:t>
            </a:r>
            <a:r>
              <a:rPr sz="95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计入主机与 PCIe 传输延迟，补全端侧延迟链。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36208" y="2119579"/>
            <a:ext cx="5724144" cy="171907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· 交换机缓冲与 VOQ：</a:t>
            </a:r>
            <a:r>
              <a:rPr sz="95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建模交换机缓冲与 VOQ 结构，评估缓冲分配对拥塞的影响。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36208" y="2291486"/>
            <a:ext cx="5724144" cy="171907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· 模组参数标定接口：</a:t>
            </a:r>
            <a:r>
              <a:rPr sz="95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提供模组参数标定入口，使仿真可用实测或规格参数驱动。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36208" y="2518257"/>
            <a:ext cx="5724144" cy="201168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566472"/>
                </a:solidFill>
                <a:latin typeface="微软雅黑"/>
                <a:ea typeface="微软雅黑"/>
                <a:cs typeface="微软雅黑"/>
              </a:rPr>
              <a:t>输出层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36208" y="2737713"/>
            <a:ext cx="5724144" cy="171907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· 带宽延迟对照：</a:t>
            </a:r>
            <a:r>
              <a:rPr sz="95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输出不同方案下的带宽与延迟对照结果，支撑设计取舍。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36208" y="2909620"/>
            <a:ext cx="5724144" cy="171907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· 集合通信效率：</a:t>
            </a:r>
            <a:r>
              <a:rPr sz="95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输出集合通信完成时间与效率指标，对照模式与协议组合。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36208" y="3081528"/>
            <a:ext cx="5724144" cy="171907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· 瓶颈定位图：</a:t>
            </a:r>
            <a:r>
              <a:rPr sz="95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标出拓扑/协议/模组层的瓶颈位置，便于定位根因。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36208" y="3253435"/>
            <a:ext cx="5724144" cy="171907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1A1A1C"/>
                </a:solidFill>
                <a:latin typeface="微软雅黑"/>
                <a:ea typeface="微软雅黑"/>
                <a:cs typeface="微软雅黑"/>
              </a:rPr>
              <a:t>· RoCE/UBoE/网卡方案对比：</a:t>
            </a:r>
            <a:r>
              <a:rPr sz="95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汇总协议路径与网卡方案的量化对比结论。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56032" y="6355080"/>
            <a:ext cx="11612880" cy="201168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85860"/>
                </a:solidFill>
                <a:latin typeface="微软雅黑"/>
                <a:ea typeface="微软雅黑"/>
                <a:cs typeface="微软雅黑"/>
              </a:rPr>
              <a:t>本页为备用说明页，供后续技术文档引用；不纳入正式立项稿版式。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638544"/>
            <a:ext cx="12191695" cy="219456"/>
          </a:xfrm>
          <a:prstGeom prst="rect">
            <a:avLst/>
          </a:prstGeom>
          <a:solidFill>
            <a:srgbClr val="E9E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0" y="6638544"/>
            <a:ext cx="146304" cy="219456"/>
          </a:xfrm>
          <a:prstGeom prst="rect">
            <a:avLst/>
          </a:prstGeom>
          <a:solidFill>
            <a:srgbClr val="1A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29184" y="6638544"/>
            <a:ext cx="10058400" cy="219456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7A8896"/>
                </a:solidFill>
                <a:latin typeface="微软雅黑"/>
                <a:ea typeface="微软雅黑"/>
                <a:cs typeface="微软雅黑"/>
              </a:rPr>
              <a:t>ScaleOut 网络仿真能力  ·  技术点说明（备用）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332720" y="6638544"/>
            <a:ext cx="1554480" cy="219456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r">
              <a:spcAft>
                <a:spcPts val="200"/>
              </a:spcAft>
            </a:pPr>
            <a:r>
              <a:rPr sz="850" b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02  /  02</a:t>
            </a:r>
          </a:p>
        </p:txBody>
      </p:sp>
      <p:sp>
        <p:nvSpPr>
          <p:cNvPr id="50" name="Rectangle 49"/>
          <p:cNvSpPr/>
          <p:nvPr/>
        </p:nvSpPr>
        <p:spPr>
          <a:xfrm>
            <a:off x="0" y="6638544"/>
            <a:ext cx="146304" cy="219456"/>
          </a:xfrm>
          <a:prstGeom prst="rect">
            <a:avLst/>
          </a:prstGeom>
          <a:solidFill>
            <a:srgbClr val="B53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