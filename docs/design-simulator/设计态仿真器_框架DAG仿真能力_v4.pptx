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v4：框图内只放技术名词，每一步带 1–2 个技术标签，难点用红框小标签标出；不放句子说明。</a:t>
            </a:r>
          </a:p>
          <a:p>
            <a:r>
              <a:t>① 多源图捕获与 DAG 归一：结构配置、源码 AST、框架 IR（FX / Jaxpr / MindIR）、运行 Trace（Kineto / msprof）并列捕获；再依次做算子实例化（算子分解映射）、形状精度绑定（符号形状推导）、控制流展开（子图内联）、多框架归一（统一算子 IR）。难点是动态形状与图断点。</a:t>
            </a:r>
          </a:p>
          <a:p>
            <a:r>
              <a:t>② 规模链：设备网格映射（Device Mesh、拓扑亲和放置）→ rank 级展开（SPMD 复制、同构折叠）→ 并行策略切分（切分传播、集合通信插入）→ 批次并发扩展（微批 1F1B、连续批处理）；难点是万卡规模下的图膨胀与跨 rank 切分一致性。序列链：序列并行切分（SP/CP、Ring Attn）→ Prefix 复用（KV 分页、前缀树匹配）→ 量化算子替换（W8A8/FP8、Q/DQ 插入）→ 融合与重计算（融合 pass、激活重计算）；难点是变长序列与 KV 显存。两链汇合为 rank 级执行图，再派生集合通信、点对点流量、内存容量（HBM 生命周期）、数据读取四张域图。</a:t>
            </a:r>
          </a:p>
          <a:p>
            <a:r>
              <a:t>③ 约束调度与 Trace 重放：依赖展开（跨 rank 依赖）→ 算子调度（多流、通算重叠）→ 执行序编排（约束拓扑排序）→ 多场景重放（离散事件重放）；难点是通算重叠与跨 rank 同步。</a:t>
            </a:r>
          </a:p>
          <a:p>
            <a:r>
              <a:t>输入直接进入 DAG 引擎，下面是输出层，本页不接仿真核。配色遵循 AICO-PPT：品牌红 #b5333b 只标 DAG 引擎，结构用灰蓝 #566472。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框架侧仿真能力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34747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从多框架导出统一 DAG，并按场景变换为大规模执行图与网络、访存图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13232"/>
            <a:ext cx="1177747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04672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13232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面向场景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713232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面向训练、推理、RL 等框架负载的端到端行为仿真，对照不同规模、资源、调度与并行限制下的吞吐、排队及瓶颈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133856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042416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竞争力目标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042416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从模型结构与源码导出统一 DAG，按场景动态变换出大卡执行图及网络、内存读取图，形成可复用的框架级泛化仿真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463040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371600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1371600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训练、推理、RL 框架迭代快，结构、源码与运行图粒度不一；规模、并行、序列、通信和访存一变，静态 DAG 难以统一表征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773936"/>
            <a:ext cx="3108960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能力结构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" y="1975104"/>
            <a:ext cx="621792" cy="292608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1975104"/>
            <a:ext cx="621792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训练框架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64842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推理框架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1004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RL 框架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7166" y="1975104"/>
            <a:ext cx="1241298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模型与源码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342132" y="2272284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2368296"/>
            <a:ext cx="621792" cy="3749039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368296"/>
            <a:ext cx="621792" cy="3749039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DAG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引擎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本页核心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2368296"/>
            <a:ext cx="5129783" cy="3749039"/>
          </a:xfrm>
          <a:prstGeom prst="roundRect">
            <a:avLst>
              <a:gd name="adj" fmla="val 3000"/>
            </a:avLst>
          </a:prstGeom>
          <a:solidFill>
            <a:srgbClr val="FDF0F1"/>
          </a:solidFill>
          <a:ln w="12700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2414015"/>
            <a:ext cx="5001768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多源图捕获与 DAG 归一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22474" y="2427732"/>
            <a:ext cx="1311981" cy="1554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难点：动态形状 · 图断点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2596896"/>
            <a:ext cx="120929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模型结构解析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Config · Module 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6846" y="2596896"/>
            <a:ext cx="120929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源码静态抽取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源码 AST 分析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61004" y="2596896"/>
            <a:ext cx="120929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框架 IR 抽取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FX · Jaxpr · MindIR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25162" y="2596896"/>
            <a:ext cx="120929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运行 Trace 回填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Kineto · msprof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3342132" y="2969971"/>
            <a:ext cx="182880" cy="676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entagon 34"/>
          <p:cNvSpPr/>
          <p:nvPr/>
        </p:nvSpPr>
        <p:spPr>
          <a:xfrm>
            <a:off x="932688" y="3044951"/>
            <a:ext cx="1277874" cy="365760"/>
          </a:xfrm>
          <a:prstGeom prst="homePlate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算子实例化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算子分解映射</a:t>
            </a:r>
          </a:p>
        </p:txBody>
      </p:sp>
      <p:sp>
        <p:nvSpPr>
          <p:cNvPr id="36" name="Chevron 35"/>
          <p:cNvSpPr/>
          <p:nvPr/>
        </p:nvSpPr>
        <p:spPr>
          <a:xfrm>
            <a:off x="2173986" y="3044951"/>
            <a:ext cx="1277874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形状精度绑定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符号形状推导</a:t>
            </a:r>
          </a:p>
        </p:txBody>
      </p:sp>
      <p:sp>
        <p:nvSpPr>
          <p:cNvPr id="37" name="Chevron 36"/>
          <p:cNvSpPr/>
          <p:nvPr/>
        </p:nvSpPr>
        <p:spPr>
          <a:xfrm>
            <a:off x="3415284" y="3044951"/>
            <a:ext cx="1277874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控制流展开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子图内联</a:t>
            </a:r>
          </a:p>
        </p:txBody>
      </p:sp>
      <p:sp>
        <p:nvSpPr>
          <p:cNvPr id="38" name="Chevron 37"/>
          <p:cNvSpPr/>
          <p:nvPr/>
        </p:nvSpPr>
        <p:spPr>
          <a:xfrm>
            <a:off x="4656581" y="3044951"/>
            <a:ext cx="1241298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多框架归一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统一算子 IR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3342132" y="3421684"/>
            <a:ext cx="182880" cy="6949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3502151"/>
            <a:ext cx="5001768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规模链 / 序列链图变换与域图派生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" y="3685031"/>
            <a:ext cx="245516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3712463"/>
            <a:ext cx="914400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规模链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85264" y="3726179"/>
            <a:ext cx="1429435" cy="1554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难点：万卡图膨胀 · 切分一致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" y="3941063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设备网格映射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60804" y="3963923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Device Mesh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03754" y="3963923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拓扑亲和放置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1325880" y="4150004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5840" y="4208525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rank 级展开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60804" y="4231386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SPMD 复制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03754" y="4231386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同构折叠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1325880" y="4417466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05840" y="4475988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并行策略切分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60804" y="4498848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切分传播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03754" y="4498848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集合通信插入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1325880" y="4684928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05840" y="4743450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批次并发扩展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860804" y="4766310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微批 1F1B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03754" y="4766310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连续批处理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79292" y="3685031"/>
            <a:ext cx="2455164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52444" y="3712463"/>
            <a:ext cx="914400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序列链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61484" y="3726179"/>
            <a:ext cx="1299819" cy="1554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难点：变长序列 · KV 显存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52444" y="3941063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序列并行切分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07408" y="3963923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SP / CP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50358" y="3963923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Ring Attn</a:t>
            </a:r>
          </a:p>
        </p:txBody>
      </p:sp>
      <p:sp>
        <p:nvSpPr>
          <p:cNvPr id="65" name="Down Arrow 64"/>
          <p:cNvSpPr/>
          <p:nvPr/>
        </p:nvSpPr>
        <p:spPr>
          <a:xfrm>
            <a:off x="3872484" y="4150004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552444" y="4208525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Prefix 复用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407408" y="4231386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KV 分页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150358" y="4231386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前缀树匹配</a:t>
            </a:r>
          </a:p>
        </p:txBody>
      </p:sp>
      <p:sp>
        <p:nvSpPr>
          <p:cNvPr id="69" name="Down Arrow 68"/>
          <p:cNvSpPr/>
          <p:nvPr/>
        </p:nvSpPr>
        <p:spPr>
          <a:xfrm>
            <a:off x="3872484" y="4417466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552444" y="4475988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量化算子替换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407408" y="4498848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W8A8 / FP8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150358" y="4498848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Q/DQ 插入</a:t>
            </a:r>
          </a:p>
        </p:txBody>
      </p:sp>
      <p:sp>
        <p:nvSpPr>
          <p:cNvPr id="73" name="Down Arrow 72"/>
          <p:cNvSpPr/>
          <p:nvPr/>
        </p:nvSpPr>
        <p:spPr>
          <a:xfrm>
            <a:off x="3872484" y="4684928"/>
            <a:ext cx="182880" cy="5303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552444" y="4743450"/>
            <a:ext cx="822960" cy="203454"/>
          </a:xfrm>
          <a:prstGeom prst="roundRect">
            <a:avLst>
              <a:gd name="adj" fmla="val 18000"/>
            </a:avLst>
          </a:prstGeom>
          <a:solidFill>
            <a:srgbClr val="F5F5F6"/>
          </a:solidFill>
          <a:ln w="1016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融合与重计算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407408" y="4766310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融合 pass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50358" y="4766310"/>
            <a:ext cx="710946" cy="15773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7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激活重计算</a:t>
            </a:r>
          </a:p>
        </p:txBody>
      </p:sp>
      <p:sp>
        <p:nvSpPr>
          <p:cNvPr id="77" name="Down Arrow 76"/>
          <p:cNvSpPr/>
          <p:nvPr/>
        </p:nvSpPr>
        <p:spPr>
          <a:xfrm>
            <a:off x="2068829" y="5009083"/>
            <a:ext cx="182880" cy="676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own Arrow 77"/>
          <p:cNvSpPr/>
          <p:nvPr/>
        </p:nvSpPr>
        <p:spPr>
          <a:xfrm>
            <a:off x="4615434" y="5009083"/>
            <a:ext cx="182880" cy="676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32688" y="5084063"/>
            <a:ext cx="786384" cy="3474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B53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rank 级</a:t>
            </a:r>
          </a:p>
          <a:p>
            <a:pPr algn="ctr">
              <a:spcAft>
                <a:spcPts val="0"/>
              </a:spcAft>
            </a:pPr>
            <a:r>
              <a:rPr sz="9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执行图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1737360" y="5188305"/>
            <a:ext cx="146304" cy="13898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901952" y="5084063"/>
            <a:ext cx="966977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AllReduce · A2A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923794" y="5084063"/>
            <a:ext cx="966977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点对点流量图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PP Send/Recv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945635" y="5084063"/>
            <a:ext cx="966977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内存容量图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HBM 生命周期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967478" y="5084063"/>
            <a:ext cx="966977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数据读取图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样本 · ckpt IO</a:t>
            </a:r>
          </a:p>
        </p:txBody>
      </p:sp>
      <p:sp>
        <p:nvSpPr>
          <p:cNvPr id="85" name="Down Arrow 84"/>
          <p:cNvSpPr/>
          <p:nvPr/>
        </p:nvSpPr>
        <p:spPr>
          <a:xfrm>
            <a:off x="3342132" y="5442508"/>
            <a:ext cx="182880" cy="6949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2688" y="5522975"/>
            <a:ext cx="5001768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约束调度与 Trace 重放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84512" y="5536691"/>
            <a:ext cx="1649943" cy="1554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难点：通算重叠 · 跨 rank 同步</a:t>
            </a:r>
          </a:p>
        </p:txBody>
      </p:sp>
      <p:sp>
        <p:nvSpPr>
          <p:cNvPr id="88" name="Pentagon 87"/>
          <p:cNvSpPr/>
          <p:nvPr/>
        </p:nvSpPr>
        <p:spPr>
          <a:xfrm>
            <a:off x="932688" y="5705855"/>
            <a:ext cx="1277874" cy="365760"/>
          </a:xfrm>
          <a:prstGeom prst="homePlate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依赖展开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跨 rank 依赖</a:t>
            </a:r>
          </a:p>
        </p:txBody>
      </p:sp>
      <p:sp>
        <p:nvSpPr>
          <p:cNvPr id="89" name="Chevron 88"/>
          <p:cNvSpPr/>
          <p:nvPr/>
        </p:nvSpPr>
        <p:spPr>
          <a:xfrm>
            <a:off x="2173986" y="5705855"/>
            <a:ext cx="1277874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算子调度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多流 · 通算重叠</a:t>
            </a:r>
          </a:p>
        </p:txBody>
      </p:sp>
      <p:sp>
        <p:nvSpPr>
          <p:cNvPr id="90" name="Chevron 89"/>
          <p:cNvSpPr/>
          <p:nvPr/>
        </p:nvSpPr>
        <p:spPr>
          <a:xfrm>
            <a:off x="3415284" y="5705855"/>
            <a:ext cx="1277874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执行序编排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约束拓扑排序</a:t>
            </a:r>
          </a:p>
        </p:txBody>
      </p:sp>
      <p:sp>
        <p:nvSpPr>
          <p:cNvPr id="91" name="Chevron 90"/>
          <p:cNvSpPr/>
          <p:nvPr/>
        </p:nvSpPr>
        <p:spPr>
          <a:xfrm>
            <a:off x="4656581" y="5705855"/>
            <a:ext cx="1241298" cy="365760"/>
          </a:xfrm>
          <a:prstGeom prst="chevron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多场景重放</a:t>
            </a:r>
          </a:p>
          <a:p>
            <a:pPr algn="ctr">
              <a:spcAft>
                <a:spcPts val="0"/>
              </a:spcAft>
            </a:pPr>
            <a:r>
              <a:rPr sz="750" b="0">
                <a:solidFill>
                  <a:srgbClr val="808088"/>
                </a:solidFill>
                <a:latin typeface="微软雅黑"/>
                <a:ea typeface="微软雅黑"/>
                <a:cs typeface="微软雅黑"/>
              </a:rPr>
              <a:t>离散事件重放</a:t>
            </a:r>
          </a:p>
        </p:txBody>
      </p:sp>
      <p:sp>
        <p:nvSpPr>
          <p:cNvPr id="92" name="Down Arrow 91"/>
          <p:cNvSpPr/>
          <p:nvPr/>
        </p:nvSpPr>
        <p:spPr>
          <a:xfrm>
            <a:off x="3342132" y="6121907"/>
            <a:ext cx="182880" cy="91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01168" y="6217920"/>
            <a:ext cx="621792" cy="310896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1168" y="6217920"/>
            <a:ext cx="621792" cy="31089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68680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场景执行图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164842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网络流量图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461004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内存访存图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757166" y="6217920"/>
            <a:ext cx="1241298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吞吐瓶颈对照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44768" y="1773936"/>
            <a:ext cx="5815584" cy="1828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144768" y="197510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144768" y="204825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09359" y="202082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09359" y="221284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多源图捕获，再归一为可仿真 DAG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309359" y="246888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1）多源捕获：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结构配置、源码 AST、框架 IR（FX / Jaxpr / MindIR）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与 Profiler Trace 四路同时进入。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09359" y="292303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2）归一收束：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先分解、实例化算子，再推导符号形状与精度，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内联控制流子图，归一为统一算子 IR。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144768" y="351434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144768" y="358749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59" y="356006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59" y="375208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按场景做图变换，并派生域图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09359" y="400812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1）双链变换：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规模链做 rank 级展开、切分传播与集合通信插入；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序列链做 SP/CP 切分、KV 复用、量化替换与重计算。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09359" y="446227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2）执行图分叉：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双链汇合为 rank 级执行图，再派生集合通信、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点对点流量、HBM 容量与数据读取四张域图。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144768" y="5053584"/>
            <a:ext cx="5815584" cy="1475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44768" y="5126736"/>
            <a:ext cx="64008" cy="1328928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09359" y="5099304"/>
            <a:ext cx="5541264" cy="20116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09359" y="5291328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按约束调度，再做 Trace 重放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09359" y="5547360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1）调度顺序：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先补齐跨 rank 依赖，再做多流调度与通算重叠，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最后按资源约束编排执行序。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09359" y="6001512"/>
            <a:ext cx="5522976" cy="45415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2）重放产出：</a:t>
            </a: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离散事件重放多场景，输出执行图、流量图、访存图，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以及吞吐、排队与瓶颈对照。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框架侧仿真能力  ·  立项讨论稿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