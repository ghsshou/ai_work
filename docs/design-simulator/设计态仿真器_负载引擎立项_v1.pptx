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讲解主线：底层算力/内存/网络仿真解决的是「系统怎么跑」，而设计态真正的输入是「跑什么」。设计态的目标系统和未来模型往往还不存在，所以负载不能只回放历史 Trace，必须可画像、可参数化、可外推。</a:t>
            </a:r>
          </a:p>
          <a:p>
            <a:r>
              <a:t>①通过计算图展开刻画单作业内部的计算/通信/访存结构；②通过随机过程刻画多作业、多请求在时间上的叠加；③通过统计拟合把真实生产 Trace 变成可放大、可迁移的负载；④把以上能力流水线化、资产化，批量产出 DSE 输入；⑤统一 IR 让同一份负载以不同保真度驱动已有仿真内核；⑥仿真结果与实测对标，误差回灌，保证可信度。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118872"/>
            <a:ext cx="11521440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50" b="1" i="0">
                <a:solidFill>
                  <a:srgbClr val="1A5FA8"/>
                </a:solidFill>
                <a:latin typeface="微软雅黑"/>
                <a:ea typeface="微软雅黑"/>
                <a:cs typeface="微软雅黑"/>
              </a:rPr>
              <a:t>设计态 AI 集群仿真器  ·  立项核心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1521440" cy="42062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21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以「负载引擎」为核心的设计态仿真器：负载刻画准，系统设计才可信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749808"/>
            <a:ext cx="11521440" cy="29260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底层 NPU / 内存存储 / 网络仿真已具备；本项目补齐负载的画像、生成与导入，形成「真实负载 → 可外推负载 → 设计结论」闭环。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1097280"/>
            <a:ext cx="896112" cy="420624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097280"/>
            <a:ext cx="896112" cy="42062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98448" y="1097280"/>
            <a:ext cx="2599182" cy="420624"/>
          </a:xfrm>
          <a:prstGeom prst="roundRect">
            <a:avLst>
              <a:gd name="adj" fmla="val 12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生产 Trace（msprof / HCCL / 服务日志）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2494" y="1097280"/>
            <a:ext cx="2599182" cy="420624"/>
          </a:xfrm>
          <a:prstGeom prst="roundRect">
            <a:avLst>
              <a:gd name="adj" fmla="val 12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模型结构与并行配置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06540" y="1097280"/>
            <a:ext cx="2599182" cy="420624"/>
          </a:xfrm>
          <a:prstGeom prst="roundRect">
            <a:avLst>
              <a:gd name="adj" fmla="val 12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业务流量预测与 SLO 分级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60586" y="1097280"/>
            <a:ext cx="2599182" cy="420624"/>
          </a:xfrm>
          <a:prstGeom prst="roundRect">
            <a:avLst>
              <a:gd name="adj" fmla="val 12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未来模型与集群规模假设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432804" y="1545336"/>
            <a:ext cx="292608" cy="12801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A8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" y="1700784"/>
            <a:ext cx="896112" cy="3456432"/>
          </a:xfrm>
          <a:prstGeom prst="rect">
            <a:avLst/>
          </a:prstGeom>
          <a:solidFill>
            <a:srgbClr val="C45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" y="1700784"/>
            <a:ext cx="896112" cy="345643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负载引擎</a:t>
            </a:r>
          </a:p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本项目核心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98448" y="1700784"/>
            <a:ext cx="10561320" cy="3456432"/>
          </a:xfrm>
          <a:prstGeom prst="roundRect">
            <a:avLst>
              <a:gd name="adj" fmla="val 2000"/>
            </a:avLst>
          </a:prstGeom>
          <a:solidFill>
            <a:srgbClr val="FDF3EA"/>
          </a:solidFill>
          <a:ln w="22225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71600" y="1773936"/>
            <a:ext cx="2855976" cy="16642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1792224"/>
            <a:ext cx="2764536" cy="27432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① 基于计算图展开的模型负载画像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35608" y="2066544"/>
            <a:ext cx="1336548" cy="39928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框架计算图抽取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27020" y="2066544"/>
            <a:ext cx="1336548" cy="39928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并行策略符号化展开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35608" y="2520696"/>
            <a:ext cx="1336548" cy="39928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多级算子代价模型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27020" y="2520696"/>
            <a:ext cx="1336548" cy="39928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通信量与访存量推导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35608" y="2974848"/>
            <a:ext cx="1336548" cy="39928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MoE 路由偏斜建模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27020" y="2974848"/>
            <a:ext cx="1336548" cy="39928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KV Cache 动态增长建模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0728" y="1773936"/>
            <a:ext cx="2855976" cy="16642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6448" y="1792224"/>
            <a:ext cx="2764536" cy="27432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② 基于随机过程的到达与请求建模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4736" y="2066544"/>
            <a:ext cx="1336548" cy="39928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突发到达建模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MMPP / Hawkes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56148" y="2066544"/>
            <a:ext cx="1336548" cy="39928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日周期与多租户叠加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64736" y="2520696"/>
            <a:ext cx="1336548" cy="39928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输入/输出长度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Copula 联合建模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56148" y="2520696"/>
            <a:ext cx="1336548" cy="39928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会话与前缀复用建模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4736" y="2974848"/>
            <a:ext cx="1336548" cy="39928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训练作业规模与故障建模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56148" y="2974848"/>
            <a:ext cx="1336548" cy="39928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SLO 分级条件化生成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9856" y="1773936"/>
            <a:ext cx="2855976" cy="16642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5576" y="1792224"/>
            <a:ext cx="2764536" cy="27432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③ 基于统计拟合的 Trace 重构与外推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93864" y="2066544"/>
            <a:ext cx="1336548" cy="39928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多源 Trace 时钟对齐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与依赖重建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5276" y="2066544"/>
            <a:ext cx="1336548" cy="39928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迭代周期性压缩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93864" y="2520696"/>
            <a:ext cx="1336548" cy="39928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混合分布拟合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与 KS/W1 检验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5276" y="2520696"/>
            <a:ext cx="1336548" cy="39928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rank 对称规模外推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1K → 100K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93864" y="2974848"/>
            <a:ext cx="1336548" cy="39928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跨硬件负载重定向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5276" y="2974848"/>
            <a:ext cx="1336548" cy="39928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未来模型 what-if 改写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71600" y="3511296"/>
            <a:ext cx="8714232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26464" y="3511296"/>
            <a:ext cx="1682496" cy="76809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④ 面向 DSE 的</a:t>
            </a:r>
          </a:p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流水线化负载数据工厂</a:t>
            </a:r>
          </a:p>
        </p:txBody>
      </p:sp>
      <p:sp>
        <p:nvSpPr>
          <p:cNvPr id="43" name="Pentagon 42"/>
          <p:cNvSpPr/>
          <p:nvPr/>
        </p:nvSpPr>
        <p:spPr>
          <a:xfrm>
            <a:off x="3145536" y="3575304"/>
            <a:ext cx="1420977" cy="640080"/>
          </a:xfrm>
          <a:prstGeom prst="homePlate">
            <a:avLst>
              <a:gd name="adj" fmla="val 2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多源采集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与脱敏</a:t>
            </a:r>
          </a:p>
        </p:txBody>
      </p:sp>
      <p:sp>
        <p:nvSpPr>
          <p:cNvPr id="44" name="Chevron 43"/>
          <p:cNvSpPr/>
          <p:nvPr/>
        </p:nvSpPr>
        <p:spPr>
          <a:xfrm>
            <a:off x="4520793" y="3575304"/>
            <a:ext cx="1420977" cy="640080"/>
          </a:xfrm>
          <a:prstGeom prst="chevron">
            <a:avLst>
              <a:gd name="adj" fmla="val 2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负载特征化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抽取</a:t>
            </a:r>
          </a:p>
        </p:txBody>
      </p:sp>
      <p:sp>
        <p:nvSpPr>
          <p:cNvPr id="45" name="Chevron 44"/>
          <p:cNvSpPr/>
          <p:nvPr/>
        </p:nvSpPr>
        <p:spPr>
          <a:xfrm>
            <a:off x="5896051" y="3575304"/>
            <a:ext cx="1420977" cy="640080"/>
          </a:xfrm>
          <a:prstGeom prst="chevron">
            <a:avLst>
              <a:gd name="adj" fmla="val 2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参数化 / 生成式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负载合成</a:t>
            </a:r>
          </a:p>
        </p:txBody>
      </p:sp>
      <p:sp>
        <p:nvSpPr>
          <p:cNvPr id="46" name="Chevron 45"/>
          <p:cNvSpPr/>
          <p:nvPr/>
        </p:nvSpPr>
        <p:spPr>
          <a:xfrm>
            <a:off x="7271308" y="3575304"/>
            <a:ext cx="1420977" cy="640080"/>
          </a:xfrm>
          <a:prstGeom prst="chevron">
            <a:avLst>
              <a:gd name="adj" fmla="val 2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分布 + 效用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保真校验</a:t>
            </a:r>
          </a:p>
        </p:txBody>
      </p:sp>
      <p:sp>
        <p:nvSpPr>
          <p:cNvPr id="47" name="Chevron 46"/>
          <p:cNvSpPr/>
          <p:nvPr/>
        </p:nvSpPr>
        <p:spPr>
          <a:xfrm>
            <a:off x="8646566" y="3575304"/>
            <a:ext cx="1420977" cy="640080"/>
          </a:xfrm>
          <a:prstGeom prst="chevron">
            <a:avLst>
              <a:gd name="adj" fmla="val 2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场景化负载库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版本管理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71600" y="4352544"/>
            <a:ext cx="871423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26464" y="4352544"/>
            <a:ext cx="1682496" cy="73152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⑤ 统一负载 IR</a:t>
            </a:r>
          </a:p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与多保真导入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145536" y="4416552"/>
            <a:ext cx="1331366" cy="603504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硬件无关执行图 IR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兼容 Chakra ET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31766" y="4416552"/>
            <a:ext cx="1331366" cy="603504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L0 解析 / L1 算子图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/ L2 包级切换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17996" y="4416552"/>
            <a:ext cx="1331366" cy="603504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集合通信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分解为网络流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04227" y="4416552"/>
            <a:ext cx="1331366" cy="603504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访存与 KV 流量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映射内存仿真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90457" y="4416552"/>
            <a:ext cx="1331366" cy="603504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代表迭代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采样加速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158984" y="1773936"/>
            <a:ext cx="1627632" cy="3310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95560" y="1801368"/>
            <a:ext cx="1554480" cy="45720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⑥ 基于实测对标的</a:t>
            </a:r>
          </a:p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闭环校准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222992" y="2304288"/>
            <a:ext cx="1499616" cy="499262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小规模集群实测对标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222992" y="2858414"/>
            <a:ext cx="1499616" cy="499262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分层误差归因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22992" y="3412540"/>
            <a:ext cx="1499616" cy="499262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代价模型系数回灌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222992" y="3966667"/>
            <a:ext cx="1499616" cy="499262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分布保真评估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222992" y="4520793"/>
            <a:ext cx="1499616" cy="499262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效用保真评估</a:t>
            </a:r>
          </a:p>
        </p:txBody>
      </p:sp>
      <p:sp>
        <p:nvSpPr>
          <p:cNvPr id="62" name="Down Arrow 61"/>
          <p:cNvSpPr/>
          <p:nvPr/>
        </p:nvSpPr>
        <p:spPr>
          <a:xfrm>
            <a:off x="5582412" y="5184648"/>
            <a:ext cx="292608" cy="12801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A8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Up Arrow 62"/>
          <p:cNvSpPr/>
          <p:nvPr/>
        </p:nvSpPr>
        <p:spPr>
          <a:xfrm>
            <a:off x="10826496" y="5184648"/>
            <a:ext cx="292608" cy="128016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C45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9184" y="5340096"/>
            <a:ext cx="896112" cy="420624"/>
          </a:xfrm>
          <a:prstGeom prst="rect">
            <a:avLst/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9184" y="5340096"/>
            <a:ext cx="896112" cy="42062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仿真内核</a:t>
            </a:r>
          </a:p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已具备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298448" y="5340096"/>
            <a:ext cx="3471672" cy="420624"/>
          </a:xfrm>
          <a:prstGeom prst="roundRect">
            <a:avLst>
              <a:gd name="adj" fmla="val 12000"/>
            </a:avLst>
          </a:prstGeom>
          <a:solidFill>
            <a:srgbClr val="E9ECF0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NPU 仿真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843272" y="5340096"/>
            <a:ext cx="3471672" cy="420624"/>
          </a:xfrm>
          <a:prstGeom prst="roundRect">
            <a:avLst>
              <a:gd name="adj" fmla="val 12000"/>
            </a:avLst>
          </a:prstGeom>
          <a:solidFill>
            <a:srgbClr val="E9ECF0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内存 / 存储仿真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88096" y="5340096"/>
            <a:ext cx="3471672" cy="420624"/>
          </a:xfrm>
          <a:prstGeom prst="roundRect">
            <a:avLst>
              <a:gd name="adj" fmla="val 12000"/>
            </a:avLst>
          </a:prstGeom>
          <a:solidFill>
            <a:srgbClr val="E9ECF0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网络仿真</a:t>
            </a:r>
          </a:p>
        </p:txBody>
      </p:sp>
      <p:sp>
        <p:nvSpPr>
          <p:cNvPr id="69" name="Down Arrow 68"/>
          <p:cNvSpPr/>
          <p:nvPr/>
        </p:nvSpPr>
        <p:spPr>
          <a:xfrm>
            <a:off x="6432804" y="5788152"/>
            <a:ext cx="292608" cy="12801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A8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29184" y="5943600"/>
            <a:ext cx="896112" cy="420624"/>
          </a:xfrm>
          <a:prstGeom prst="rect">
            <a:avLst/>
          </a:prstGeom>
          <a:solidFill>
            <a:srgbClr val="3D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9184" y="5943600"/>
            <a:ext cx="896112" cy="42062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设计输出</a:t>
            </a:r>
          </a:p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DSE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298448" y="5943600"/>
            <a:ext cx="2053742" cy="420624"/>
          </a:xfrm>
          <a:prstGeom prst="roundRect">
            <a:avLst>
              <a:gd name="adj" fmla="val 12000"/>
            </a:avLst>
          </a:prstGeom>
          <a:solidFill>
            <a:srgbClr val="E8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超节点规模与组网拓扑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425342" y="5943600"/>
            <a:ext cx="2053742" cy="420624"/>
          </a:xfrm>
          <a:prstGeom prst="roundRect">
            <a:avLst>
              <a:gd name="adj" fmla="val 12000"/>
            </a:avLst>
          </a:prstGeom>
          <a:solidFill>
            <a:srgbClr val="E8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Scale-up / Scale-out 带宽配比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552236" y="5943600"/>
            <a:ext cx="2053742" cy="420624"/>
          </a:xfrm>
          <a:prstGeom prst="roundRect">
            <a:avLst>
              <a:gd name="adj" fmla="val 12000"/>
            </a:avLst>
          </a:prstGeom>
          <a:solidFill>
            <a:srgbClr val="E8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HBM / 池化内存 / 存储层级容量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679131" y="5943600"/>
            <a:ext cx="2053742" cy="420624"/>
          </a:xfrm>
          <a:prstGeom prst="roundRect">
            <a:avLst>
              <a:gd name="adj" fmla="val 12000"/>
            </a:avLst>
          </a:prstGeom>
          <a:solidFill>
            <a:srgbClr val="E8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PD 配比与并行策略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806025" y="5943600"/>
            <a:ext cx="2053742" cy="420624"/>
          </a:xfrm>
          <a:prstGeom prst="roundRect">
            <a:avLst>
              <a:gd name="adj" fmla="val 12000"/>
            </a:avLst>
          </a:prstGeom>
          <a:solidFill>
            <a:srgbClr val="E8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瓶颈定位与 TCO / 能效评估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设计态 AI 集群仿真器  ·  负载引擎立项  ·  内部讨论稿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Bef>
                <a:spcPts val="0"/>
              </a:spcBef>
              <a:spcAft>
                <a:spcPts val="250"/>
              </a:spcAft>
            </a:pPr>
            <a:r>
              <a:rPr sz="8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01  / 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118872"/>
            <a:ext cx="11521440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50" b="1" i="0">
                <a:solidFill>
                  <a:srgbClr val="1A5FA8"/>
                </a:solidFill>
                <a:latin typeface="微软雅黑"/>
                <a:ea typeface="微软雅黑"/>
                <a:cs typeface="微软雅黑"/>
              </a:rPr>
              <a:t>备份页  ·  核心技术展开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1521440" cy="42062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21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负载引擎六项核心技术：关键问题、技术路线、业界参考与难点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749808"/>
            <a:ext cx="11521440" cy="29260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按「单作业结构 → 多作业时间叠加 → 真实数据拟合 → 流水线资产化 → 导入仿真 → 闭环校准」组织。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9184" y="1143000"/>
          <a:ext cx="11530584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286000"/>
                <a:gridCol w="3703320"/>
                <a:gridCol w="2011680"/>
                <a:gridCol w="1975104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核心技术</a:t>
                      </a:r>
                    </a:p>
                  </a:txBody>
                  <a:tcPr marL="54864" marR="54864" marT="27432" marB="27432" anchor="ctr">
                    <a:solidFill>
                      <a:srgbClr val="1F3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要回答的关键问题</a:t>
                      </a:r>
                    </a:p>
                  </a:txBody>
                  <a:tcPr marL="54864" marR="54864" marT="27432" marB="27432" anchor="ctr">
                    <a:solidFill>
                      <a:srgbClr val="1F3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技术路线</a:t>
                      </a:r>
                    </a:p>
                  </a:txBody>
                  <a:tcPr marL="54864" marR="54864" marT="27432" marB="27432" anchor="ctr">
                    <a:solidFill>
                      <a:srgbClr val="1F3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业界参考</a:t>
                      </a:r>
                    </a:p>
                  </a:txBody>
                  <a:tcPr marL="54864" marR="54864" marT="27432" marB="27432" anchor="ctr">
                    <a:solidFill>
                      <a:srgbClr val="1F3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难点 / 风险</a:t>
                      </a:r>
                    </a:p>
                  </a:txBody>
                  <a:tcPr marL="54864" marR="54864" marT="27432" marB="27432" anchor="ctr">
                    <a:solidFill>
                      <a:srgbClr val="1F3A5C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45A1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模型画像</a:t>
                      </a:r>
                    </a:p>
                  </a:txBody>
                  <a:tcPr marL="54864" marR="54864" marT="27432" marB="27432" anchor="ctr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一个作业在给定并行策略下，每个 rank 何时算什么、传多少、访存多少？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计算图抽取（框架图 dump/ET）→ 并行策略符号化展开 → 算子代价模型（Roofline+实测表+回归）→ MoE 路由/KV 动态注入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Chakra ET、Calculon、Vidur 算子 Profiling、Lumos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未见 shape 与新算子的代价外推；MoE 路由偏斜的刻画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45A1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到达与请求分布</a:t>
                      </a:r>
                    </a:p>
                  </a:txBody>
                  <a:tcPr marL="54864" marR="54864" marT="27432" marB="27432" anchor="ctr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多请求/多作业在时间上如何叠加？突发、周期、长尾如何刻画？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MMPP/Hawkes 刻画突发；输入/输出长度 Copula 联合建模；会话/前缀复用建模；训练作业规模幂律与故障模型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Azure LLM Trace、BurstGPT、Mooncake Trace、ServeGen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生产数据可得性；Agent/RL 等新形态负载缺少历史样本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45A1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Trace 拟合与外推</a:t>
                      </a:r>
                    </a:p>
                  </a:txBody>
                  <a:tcPr marL="54864" marR="54864" marT="27432" marB="27432" anchor="ctr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如何把小规模、旧硬件上的真实 Trace 变成大规模、新硬件的负载？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多源对齐与依赖重建 → 迭代去重压缩 → 分布拟合 + 检验 → rank 对称扩展、跨硬件重定向、模型 what-if 改写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Chakra trace link/converter、SimAI、Echo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外推非线性（拥塞、尾延迟）；跨硬件重定向时依赖关系变化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45A1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④ 负载数据工厂</a:t>
                      </a:r>
                    </a:p>
                  </a:txBody>
                  <a:tcPr marL="54864" marR="54864" marT="27432" marB="27432" anchor="ctr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如何让负载可复用、可追溯、可批量产出？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采集→清洗脱敏→特征化→建模→合成→校验→入库流水线；参数化生成器 + 生成式合成；负载版本与血缘管理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Mystique（Meta）、MLPerf 负载集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脱敏后的保真度；生成式模型的可解释性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45A1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⑤ 统一负载 IR 与导入</a:t>
                      </a:r>
                    </a:p>
                  </a:txBody>
                  <a:tcPr marL="54864" marR="54864" marT="27432" marB="27432" anchor="ctr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同一份负载如何以不同保真度驱动 NPU/内存/网络内核？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硬件无关执行图 IR（兼容 Chakra ET）；L0/L1/L2 多保真切换；集合通信分解为流；代表迭代采样加速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ASTRA-sim 2.0、SimAI（ns-3 后端）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多内核协同的时间同步；万卡级图规模与仿真速度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45A1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⑥ 闭环校准</a:t>
                      </a:r>
                    </a:p>
                  </a:txBody>
                  <a:tcPr marL="54864" marR="54864" marT="27432" marB="27432" anchor="ctr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仿真结论有多可信？误差来自哪里？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小规模实测对标 → 分层误差归因（算子/通信/调度）→ 系数回灌；分布保真 + 效用保真双指标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ASTRA-sim/SimAI 实测验证方法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大规模实测资源有限；误差随规模放大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29184" y="5687568"/>
            <a:ext cx="11530584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" y="5687568"/>
            <a:ext cx="1188720" cy="603504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5687568"/>
            <a:ext cx="1188720" cy="6035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立项目标</a:t>
            </a:r>
          </a:p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建议值，待对齐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5687568"/>
            <a:ext cx="1207008" cy="6035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≤10%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9776" y="5687568"/>
            <a:ext cx="1341882" cy="6035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迭代时间/吞吐仿真误差（千卡实测对标）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9946" y="5797296"/>
            <a:ext cx="10972" cy="384048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58234" y="5687568"/>
            <a:ext cx="1207008" cy="6035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1K→100K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6954" y="5687568"/>
            <a:ext cx="1341882" cy="6035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千卡 Trace 外推生成十万卡负载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07124" y="5797296"/>
            <a:ext cx="10972" cy="384048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5412" y="5687568"/>
            <a:ext cx="1207008" cy="6035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6类·30+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4132" y="5687568"/>
            <a:ext cx="1341882" cy="6035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场景类别 · 版本化标准负载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74302" y="5797296"/>
            <a:ext cx="10972" cy="384048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2590" y="5687568"/>
            <a:ext cx="1207008" cy="6035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≥1000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81310" y="5687568"/>
            <a:ext cx="1341882" cy="6035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配置/轮批量 DSE；解析级分钟、包级小时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参考：ASTRA-sim 2.0/Chakra、SimAI（NSDI'25）、Vidur（MLSys'24）、NVIDIA Omniverse DSX、Mystique（ISCA'23）、ServeGen、BurstGPT、Mooncake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Bef>
                <a:spcPts val="0"/>
              </a:spcBef>
              <a:spcAft>
                <a:spcPts val="250"/>
              </a:spcAft>
            </a:pPr>
            <a:r>
              <a:rPr sz="8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02  / 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