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本页不接仿真核。输入直接进入 DAG 引擎，引擎之后是输出层。</a:t>
            </a:r>
          </a:p>
          <a:p>
            <a:r>
              <a:t>DAG 创建拆成抽取与实例化：结构、源码、IR、Trace、算子库、模板；再做算子实例化、形状、精度、控制流、动态 Shape、多框架归一。</a:t>
            </a:r>
          </a:p>
          <a:p>
            <a:r>
              <a:t>DAG 变换拆成三条：规模与四种并行；长序列、Prefix、KV、量化、融合、重计算；以及通信、流量、内存容量、数据读取、访存带宽、存储层级六张派生图。</a:t>
            </a:r>
          </a:p>
          <a:p>
            <a:r>
              <a:t>DAG 编排拆成依赖、调度、执行序、流水微批次、设备流绑定和多场景重放。</a:t>
            </a:r>
          </a:p>
          <a:p>
            <a:r>
              <a:t>配色遵循 AICO-PPT：品牌红 #b5333b 只标本页核心，结构用灰蓝 #566472。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11521440" cy="219456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设计态 AI 集群仿真器  ·  框架侧仿真能力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29184"/>
            <a:ext cx="11612880" cy="34747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从多框架导出统一 DAG，并按场景变换为大规模执行图与网络、访存图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713232"/>
            <a:ext cx="11777472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" y="804672"/>
            <a:ext cx="64008" cy="170687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713232"/>
            <a:ext cx="1115568" cy="3535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面向场景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713232"/>
            <a:ext cx="10149840" cy="3535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面向训练、推理、RL 等框架负载的端到端行为仿真，对照不同规模、资源、调度与并行限制下的吞吐、排队及瓶颈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" y="1158240"/>
            <a:ext cx="64008" cy="170687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066800"/>
            <a:ext cx="1115568" cy="3535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竞争力目标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1066800"/>
            <a:ext cx="10149840" cy="3535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从模型结构与源码导出统一 DAG，按场景动态变换出大卡执行图及网络、内存读取图，形成可复用的框架级泛化仿真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" y="1511808"/>
            <a:ext cx="64008" cy="170687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420368"/>
            <a:ext cx="1115568" cy="3535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技术挑战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1420368"/>
            <a:ext cx="10149840" cy="3535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训练、推理、RL 框架迭代快，结构、源码与运行图粒度不一；规模、并行、序列、通信和访存一变，静态 DAG 难以统一表征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1737360"/>
            <a:ext cx="3108960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66472"/>
                </a:solidFill>
                <a:latin typeface="微软雅黑"/>
                <a:ea typeface="微软雅黑"/>
                <a:cs typeface="微软雅黑"/>
              </a:rPr>
              <a:t>能力结构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" y="1938528"/>
            <a:ext cx="621792" cy="329184"/>
          </a:xfrm>
          <a:prstGeom prst="rect">
            <a:avLst/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1938528"/>
            <a:ext cx="621792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输入层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1938528"/>
            <a:ext cx="5129784" cy="329184"/>
          </a:xfrm>
          <a:prstGeom prst="roundRect">
            <a:avLst>
              <a:gd name="adj" fmla="val 4000"/>
            </a:avLst>
          </a:prstGeom>
          <a:solidFill>
            <a:srgbClr val="F5F5F6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1984248"/>
            <a:ext cx="809244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训练框架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60220" y="1984248"/>
            <a:ext cx="809244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推理框架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06040" y="1984248"/>
            <a:ext cx="809244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RL 框架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51860" y="1984248"/>
            <a:ext cx="809244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模型结构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1984248"/>
            <a:ext cx="809244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框架源码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43500" y="1984248"/>
            <a:ext cx="809244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运行 Trace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3314700" y="2286000"/>
            <a:ext cx="237744" cy="10058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1168" y="2404872"/>
            <a:ext cx="621792" cy="3621023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1168" y="2404872"/>
            <a:ext cx="621792" cy="3621023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DAG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引擎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本页核心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2404872"/>
            <a:ext cx="5129784" cy="3621023"/>
          </a:xfrm>
          <a:prstGeom prst="roundRect">
            <a:avLst>
              <a:gd name="adj" fmla="val 3000"/>
            </a:avLst>
          </a:prstGeom>
          <a:solidFill>
            <a:srgbClr val="FDF0F1"/>
          </a:solidFill>
          <a:ln w="12700">
            <a:solidFill>
              <a:srgbClr val="E0A3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14400" y="2450592"/>
            <a:ext cx="5038344" cy="55778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" y="2450592"/>
            <a:ext cx="1078992" cy="557783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① 基于多源的</a:t>
            </a:r>
          </a:p>
          <a:p>
            <a:pPr algn="ctr">
              <a:spcAft>
                <a:spcPts val="200"/>
              </a:spcAft>
            </a:pPr>
            <a:r>
              <a:rPr sz="9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图抽取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11680" y="2487168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模型结构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解析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67000" y="2487168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源码静态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抽取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22320" y="2487168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框架 IR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抽取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77640" y="2487168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运行 Trace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回填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32960" y="2487168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算子库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映射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88280" y="2487168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子图模板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导入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3044951"/>
            <a:ext cx="5038344" cy="55778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976" y="3044951"/>
            <a:ext cx="1078992" cy="557783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② 面向仿真的</a:t>
            </a:r>
          </a:p>
          <a:p>
            <a:pPr algn="ctr">
              <a:spcAft>
                <a:spcPts val="200"/>
              </a:spcAft>
            </a:pPr>
            <a:r>
              <a:rPr sz="9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实例化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011680" y="3081527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算子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实例化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67000" y="3081527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张量形状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绑定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22320" y="3081527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精度类型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绑定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977640" y="3081527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控制流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展开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632960" y="3081527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动态 Shape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展开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288280" y="3081527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多框架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图归一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4400" y="3639311"/>
            <a:ext cx="5038344" cy="55778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0976" y="3639311"/>
            <a:ext cx="1078992" cy="557783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③ 面向规模的</a:t>
            </a:r>
          </a:p>
          <a:p>
            <a:pPr algn="ctr">
              <a:spcAft>
                <a:spcPts val="200"/>
              </a:spcAft>
            </a:pPr>
            <a:r>
              <a:rPr sz="9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并行改写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011680" y="3675887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小集群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映射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667000" y="3675887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大卡拓扑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展开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322320" y="3675887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数据并行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切分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977640" y="3675887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张量并行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切分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632960" y="3675887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流水并行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切段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288280" y="3675887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专家并行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展开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4400" y="4233671"/>
            <a:ext cx="5038344" cy="55778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0976" y="4233671"/>
            <a:ext cx="1078992" cy="557783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④ 面向序列的</a:t>
            </a:r>
          </a:p>
          <a:p>
            <a:pPr algn="ctr">
              <a:spcAft>
                <a:spcPts val="200"/>
              </a:spcAft>
            </a:pPr>
            <a:r>
              <a:rPr sz="9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精度改写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011680" y="4270247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长序列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切块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667000" y="4270247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Prefix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复用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322320" y="4270247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KV 缓存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图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977640" y="4270247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量化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改写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632960" y="4270247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算子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融合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288280" y="4270247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重计算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插入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14400" y="4828031"/>
            <a:ext cx="5038344" cy="55778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50976" y="4828031"/>
            <a:ext cx="1078992" cy="557783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⑤ 网络与</a:t>
            </a:r>
          </a:p>
          <a:p>
            <a:pPr algn="ctr">
              <a:spcAft>
                <a:spcPts val="200"/>
              </a:spcAft>
            </a:pPr>
            <a:r>
              <a:rPr sz="9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访存图衍生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011680" y="4864607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集合通信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图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667000" y="4864607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点对点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流量图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322320" y="4864607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内存容量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图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977640" y="4864607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数据读取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图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632960" y="4864607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访存带宽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图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288280" y="4864607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存储层级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图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14400" y="5422391"/>
            <a:ext cx="5038344" cy="55778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50976" y="5422391"/>
            <a:ext cx="1078992" cy="557783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⑥ 面向约束的</a:t>
            </a:r>
          </a:p>
          <a:p>
            <a:pPr algn="ctr">
              <a:spcAft>
                <a:spcPts val="200"/>
              </a:spcAft>
            </a:pPr>
            <a:r>
              <a:rPr sz="9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编排对照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011680" y="5458967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依赖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展开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667000" y="5458967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算子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调度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322320" y="5458967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执行序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编排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977640" y="5458967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流水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微批次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632960" y="5458967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设备流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绑定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288280" y="5458967"/>
            <a:ext cx="627888" cy="484631"/>
          </a:xfrm>
          <a:prstGeom prst="roundRect">
            <a:avLst>
              <a:gd name="adj" fmla="val 12000"/>
            </a:avLst>
          </a:prstGeom>
          <a:solidFill>
            <a:srgbClr val="FDF0F1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多场景</a:t>
            </a:r>
          </a:p>
          <a:p>
            <a:pPr algn="ctr">
              <a:spcAft>
                <a:spcPts val="200"/>
              </a:spcAft>
            </a:pPr>
            <a:r>
              <a:rPr sz="7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重放</a:t>
            </a:r>
          </a:p>
        </p:txBody>
      </p:sp>
      <p:sp>
        <p:nvSpPr>
          <p:cNvPr id="79" name="Down Arrow 78"/>
          <p:cNvSpPr/>
          <p:nvPr/>
        </p:nvSpPr>
        <p:spPr>
          <a:xfrm>
            <a:off x="3314700" y="6044183"/>
            <a:ext cx="237744" cy="10058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01168" y="6163055"/>
            <a:ext cx="621792" cy="365760"/>
          </a:xfrm>
          <a:prstGeom prst="rect">
            <a:avLst/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1168" y="6163055"/>
            <a:ext cx="621792" cy="36576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输出层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68680" y="6163055"/>
            <a:ext cx="5129784" cy="365760"/>
          </a:xfrm>
          <a:prstGeom prst="roundRect">
            <a:avLst>
              <a:gd name="adj" fmla="val 4000"/>
            </a:avLst>
          </a:prstGeom>
          <a:solidFill>
            <a:srgbClr val="F5F5F6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914400" y="6208775"/>
            <a:ext cx="809244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训练执行图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760220" y="6208775"/>
            <a:ext cx="809244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推理执行图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606040" y="6208775"/>
            <a:ext cx="809244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RL 闭环图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451860" y="6208775"/>
            <a:ext cx="809244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网络流量图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297680" y="6208775"/>
            <a:ext cx="809244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内存访存图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143500" y="6208775"/>
            <a:ext cx="809244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吞吐瓶颈对照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44768" y="1737360"/>
            <a:ext cx="5815584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144768" y="1938528"/>
            <a:ext cx="5815584" cy="1487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144768" y="2011680"/>
            <a:ext cx="64008" cy="1341120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09359" y="1984248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09359" y="2176272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多源抽取与可仿真 DAG 实例化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09359" y="2432304"/>
            <a:ext cx="5522976" cy="46024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1）多源成图：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结构解析、源码抽取、框架 IR、Trace 回填、算子映射和模板导入。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09359" y="2892552"/>
            <a:ext cx="5522976" cy="46024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2）实例化对齐：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实例化算子，绑定形状与精度，展开控制流和动态 Shape，归一成一套 DAG。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144768" y="3489960"/>
            <a:ext cx="5815584" cy="1487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144768" y="3563112"/>
            <a:ext cx="64008" cy="1341120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59" y="3535680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09359" y="3727704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按场景改写执行图并派生域图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309359" y="3983736"/>
            <a:ext cx="5522976" cy="46024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1）规模与序列：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小集群映射到大卡，展开数据、张量、流水、专家并行，以及长序列、Prefix、KV、量化、融合和重计算。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09359" y="4443984"/>
            <a:ext cx="5522976" cy="46024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2）域图衍生：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集合通信、点对点流量、内存容量、数据读取、访存带宽、存储层级。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144768" y="5041392"/>
            <a:ext cx="5815584" cy="1487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144768" y="5114544"/>
            <a:ext cx="64008" cy="1341120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09359" y="5087112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309359" y="5279136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资源约束下的编排与场景对照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309359" y="5535168"/>
            <a:ext cx="5522976" cy="46024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1）执行编排：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依赖展开、算子调度、执行序、流水微批次，并把算子绑定到设备与流。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309359" y="5995416"/>
            <a:ext cx="5522976" cy="46024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2）场景对照：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在同一 DAG 族上切换规模、资源、调度和并行限制，重放并比较吞吐、排队与瓶颈。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29184" y="6638544"/>
            <a:ext cx="1005840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框架侧仿真能力  ·  立项讨论稿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01  /  01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